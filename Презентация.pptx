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notesMasters/notesMaster1.xml" ContentType="application/vnd.openxmlformats-officedocument.presentationml.notesMaster+xml"/>
  <Override PartName="/ppt/notesMasters/_rels/notesMaster1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_rels/notesSlide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media/image28.png" ContentType="image/png"/>
  <Override PartName="/ppt/media/image1.jpeg" ContentType="image/jpeg"/>
  <Override PartName="/ppt/media/image3.png" ContentType="image/png"/>
  <Override PartName="/ppt/media/image2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jpeg" ContentType="image/jpeg"/>
  <Override PartName="/ppt/media/image8.png" ContentType="image/png"/>
  <Override PartName="/ppt/media/image9.png" ContentType="image/png"/>
  <Override PartName="/ppt/media/image10.png" ContentType="image/png"/>
  <Override PartName="/ppt/media/image11.png" ContentType="image/png"/>
  <Override PartName="/ppt/media/image12.png" ContentType="image/png"/>
  <Override PartName="/ppt/media/image13.jpeg" ContentType="image/jpeg"/>
  <Override PartName="/ppt/media/image14.png" ContentType="image/png"/>
  <Override PartName="/ppt/media/image15.png" ContentType="image/png"/>
  <Override PartName="/ppt/media/image16.jpeg" ContentType="image/jpeg"/>
  <Override PartName="/ppt/media/image17.png" ContentType="image/png"/>
  <Override PartName="/ppt/media/image18.png" ContentType="image/png"/>
  <Override PartName="/ppt/media/image19.jpeg" ContentType="image/jpeg"/>
  <Override PartName="/ppt/media/image20.png" ContentType="image/png"/>
  <Override PartName="/ppt/media/image21.png" ContentType="image/png"/>
  <Override PartName="/ppt/media/image22.jpeg" ContentType="image/jpeg"/>
  <Override PartName="/ppt/media/image23.png" ContentType="image/png"/>
  <Override PartName="/ppt/media/image24.png" ContentType="image/png"/>
  <Override PartName="/ppt/media/image25.jpeg" ContentType="image/jpeg"/>
  <Override PartName="/ppt/media/image27.png" ContentType="image/png"/>
  <Override PartName="/ppt/media/image26.png" ContentType="image/png"/>
  <Override PartName="/ppt/presProps.xml" ContentType="application/vnd.openxmlformats-officedocument.presentationml.presProps+xml"/>
  <Override PartName="/ppt/_rels/presentation.xml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ru-RU" sz="1400" spc="-1" strike="noStrike">
                <a:solidFill>
                  <a:srgbClr val="000000"/>
                </a:solidFill>
                <a:latin typeface="Arial"/>
              </a:rPr>
              <a:t>Для перемещения страницы щёлкните мышью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ru-RU" sz="2000" spc="-1" strike="noStrike">
                <a:latin typeface="Arial"/>
              </a:rPr>
              <a:t>Для правки формата примечаний щёлкните мышью</a:t>
            </a:r>
            <a:endParaRPr b="0" lang="ru-RU" sz="2000" spc="-1" strike="noStrike">
              <a:latin typeface="Arial"/>
            </a:endParaRPr>
          </a:p>
        </p:txBody>
      </p:sp>
      <p:sp>
        <p:nvSpPr>
          <p:cNvPr id="82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ru-RU" sz="1400" spc="-1" strike="noStrike">
                <a:latin typeface="Times New Roman"/>
              </a:rPr>
              <a:t>&lt;верхний колонтитул&gt;</a:t>
            </a:r>
            <a:endParaRPr b="0" lang="ru-RU" sz="1400" spc="-1" strike="noStrike">
              <a:latin typeface="Times New Roman"/>
            </a:endParaRPr>
          </a:p>
        </p:txBody>
      </p:sp>
      <p:sp>
        <p:nvSpPr>
          <p:cNvPr id="83" name="PlaceHolder 4"/>
          <p:cNvSpPr>
            <a:spLocks noGrp="1"/>
          </p:cNvSpPr>
          <p:nvPr>
            <p:ph type="dt" idx="5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ru-RU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ru-RU" sz="1400" spc="-1" strike="noStrike">
                <a:latin typeface="Times New Roman"/>
              </a:rPr>
              <a:t>&lt;дата/время&gt;</a:t>
            </a:r>
            <a:endParaRPr b="0" lang="ru-RU" sz="1400" spc="-1" strike="noStrike">
              <a:latin typeface="Times New Roman"/>
            </a:endParaRPr>
          </a:p>
        </p:txBody>
      </p:sp>
      <p:sp>
        <p:nvSpPr>
          <p:cNvPr id="84" name="PlaceHolder 5"/>
          <p:cNvSpPr>
            <a:spLocks noGrp="1"/>
          </p:cNvSpPr>
          <p:nvPr>
            <p:ph type="ftr" idx="6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ru-RU" sz="1400" spc="-1" strike="noStrike">
                <a:latin typeface="Times New Roman"/>
              </a:defRPr>
            </a:lvl1pPr>
          </a:lstStyle>
          <a:p>
            <a:r>
              <a:rPr b="0" lang="ru-RU" sz="1400" spc="-1" strike="noStrike">
                <a:latin typeface="Times New Roman"/>
              </a:rPr>
              <a:t>&lt;нижний колонтитул&gt;</a:t>
            </a:r>
            <a:endParaRPr b="0" lang="ru-RU" sz="1400" spc="-1" strike="noStrike">
              <a:latin typeface="Times New Roman"/>
            </a:endParaRPr>
          </a:p>
        </p:txBody>
      </p:sp>
      <p:sp>
        <p:nvSpPr>
          <p:cNvPr id="85" name="PlaceHolder 6"/>
          <p:cNvSpPr>
            <a:spLocks noGrp="1"/>
          </p:cNvSpPr>
          <p:nvPr>
            <p:ph type="sldNum" idx="7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ru-RU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8F8A98BF-39FE-462C-9C3E-6301C9477C11}" type="slidenum">
              <a:rPr b="0" lang="ru-RU" sz="1400" spc="-1" strike="noStrike">
                <a:latin typeface="Times New Roman"/>
              </a:rPr>
              <a:t>&lt;номер&gt;</a:t>
            </a:fld>
            <a:endParaRPr b="0" lang="ru-RU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520" cy="3428640"/>
          </a:xfrm>
          <a:prstGeom prst="rect">
            <a:avLst/>
          </a:prstGeom>
          <a:ln w="0">
            <a:noFill/>
          </a:ln>
        </p:spPr>
      </p:sp>
      <p:sp>
        <p:nvSpPr>
          <p:cNvPr id="22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ru-RU" sz="2000" spc="-1" strike="noStrike">
              <a:latin typeface="Arial"/>
            </a:endParaRPr>
          </a:p>
        </p:txBody>
      </p:sp>
      <p:sp>
        <p:nvSpPr>
          <p:cNvPr id="222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0" lang="ru" sz="1400" spc="-1" strike="noStrike">
                <a:solidFill>
                  <a:srgbClr val="000000"/>
                </a:solidFill>
                <a:latin typeface="Arial"/>
                <a:ea typeface="Arial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9D9888A2-CD58-4C83-BFDD-BEA37955B2A2}" type="slidenum">
              <a:rPr b="0" lang="ru" sz="1400" spc="-1" strike="noStrike">
                <a:solidFill>
                  <a:srgbClr val="000000"/>
                </a:solidFill>
                <a:latin typeface="Arial"/>
                <a:ea typeface="Arial"/>
              </a:rPr>
              <a:t>&lt;номер&gt;</a:t>
            </a:fld>
            <a:endParaRPr b="0" lang="ru-RU" sz="14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ECB22C20-97A3-4BDE-A417-63BDC0B47480}" type="slidenum">
              <a:t>&lt;#&gt;</a:t>
            </a:fld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20120" cy="205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800F0173-FDF6-40B9-84BB-42E982ACD4F1}" type="slidenum">
              <a:t>&lt;#&gt;</a:t>
            </a:fld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20120" cy="205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E6C7CD27-A4A5-4DBF-8940-3C853A8DD2CE}" type="slidenum">
              <a:t>&lt;#&gt;</a:t>
            </a:fld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20120" cy="205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C7EB2ACB-BC41-440A-B838-1C2D4DE97B09}" type="slidenum">
              <a:t>&lt;#&gt;</a:t>
            </a:fld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20120" cy="205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F7972EA0-6FF3-42EE-B488-88C31854422D}" type="slidenum">
              <a:t>&lt;#&gt;</a:t>
            </a:fld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subTitle"/>
          </p:nvPr>
        </p:nvSpPr>
        <p:spPr>
          <a:xfrm>
            <a:off x="311760" y="744480"/>
            <a:ext cx="8520120" cy="951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094DF881-A8C5-4737-9713-5CEF416EB80B}" type="slidenum">
              <a:t>&lt;#&gt;</a:t>
            </a:fld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20120" cy="205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FB240623-448F-4F16-B09D-7E83B217E0C0}" type="slidenum">
              <a:t>&lt;#&gt;</a:t>
            </a:fld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20120" cy="205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3A4E407A-685D-4805-8165-198EE03029C7}" type="slidenum">
              <a:t>&lt;#&gt;</a:t>
            </a:fld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20120" cy="205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517E9F10-46E1-4E55-A1F1-0CDAA6F38759}" type="slidenum">
              <a:t>&lt;#&gt;</a:t>
            </a:fld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20120" cy="205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C03AFDC9-2B70-46B9-8C7D-66EEB92676D1}" type="slidenum">
              <a:t>&lt;#&gt;</a:t>
            </a:fld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20120" cy="205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7177F67A-46AB-4039-9C2B-74FF7B70EDF9}" type="slidenum">
              <a:t>&lt;#&gt;</a:t>
            </a:fld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20120" cy="205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1E3EB133-0672-434B-A669-A70209FE1185}" type="slidenum">
              <a:t>&lt;#&gt;</a:t>
            </a:fld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6A5BF90A-0D04-4CF6-AC55-7B050CA7202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20120" cy="205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DBD42371-05BF-42B4-945E-A2E2402099E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20120" cy="205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1984AF7E-FDD2-4997-AB51-DFE969DD6B4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20120" cy="205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32CC55A6-E302-45CC-971C-EE87E26E1CD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20120" cy="205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49C81E8B-6919-49A6-B26A-09949E5C74D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subTitle"/>
          </p:nvPr>
        </p:nvSpPr>
        <p:spPr>
          <a:xfrm>
            <a:off x="311760" y="744480"/>
            <a:ext cx="8520120" cy="951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C41D64EF-1AEA-4E2E-A914-667B93FB028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20120" cy="205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C60D5316-401B-470E-A4B8-9403368DD34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20120" cy="205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2867C907-11BF-47BA-B54E-A3D46734F3A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20120" cy="205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02C1D2FE-C6EE-438B-B815-15875DF5217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20120" cy="205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7B170663-9750-45D2-9463-A8F26B163E7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20120" cy="205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49BE3B03-FEF9-4B04-AACE-C6C5811F5B89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20120" cy="205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E7B80E59-1A4A-4A1E-B158-DB6B992FE4A5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20120" cy="20523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rmAutofit fontScale="88000"/>
          </a:bodyPr>
          <a:p>
            <a:r>
              <a:rPr b="0" lang="ru-RU" sz="5200" spc="-1" strike="noStrike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  <a:endParaRPr b="0" lang="ru-RU" sz="5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ctr">
            <a:norm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0" lang="ru" sz="1000" spc="-1" strike="noStrike">
                <a:solidFill>
                  <a:srgbClr val="595959"/>
                </a:solidFill>
                <a:latin typeface="Arial"/>
                <a:ea typeface="Arial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2E6F7994-E0B1-4066-AACB-192A676EE927}" type="slidenum">
              <a:rPr b="0" lang="ru" sz="1000" spc="-1" strike="noStrike">
                <a:solidFill>
                  <a:srgbClr val="595959"/>
                </a:solidFill>
                <a:latin typeface="Arial"/>
                <a:ea typeface="Arial"/>
              </a:rPr>
              <a:t>&lt;номер&gt;</a:t>
            </a:fld>
            <a:endParaRPr b="0" lang="ru-RU" sz="10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pc="-1" strike="noStrike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pc="-1" strike="noStrike">
                <a:solidFill>
                  <a:srgbClr val="000000"/>
                </a:solidFill>
                <a:latin typeface="Arial"/>
              </a:rPr>
              <a:t>Второй уровень структуры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pc="-1" strike="noStrike">
                <a:solidFill>
                  <a:srgbClr val="000000"/>
                </a:solidFill>
                <a:latin typeface="Arial"/>
              </a:rPr>
              <a:t>Третий уровень структуры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pc="-1" strike="noStrike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Пятый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Шестой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Седьмой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716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p>
            <a:r>
              <a:rPr b="0" lang="ru-RU" sz="2800" spc="-1" strike="noStrike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  <a:endParaRPr b="0" lang="ru-RU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Второй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Третий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Пятый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Шестой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Седьмой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dt" idx="2"/>
          </p:nvPr>
        </p:nvSpPr>
        <p:spPr>
          <a:xfrm>
            <a:off x="45720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defRPr b="0" lang="ru-RU" sz="1400" spc="-1" strike="noStrike">
                <a:latin typeface="Times New Roman"/>
              </a:defRPr>
            </a:lvl1pPr>
          </a:lstStyle>
          <a:p>
            <a:r>
              <a:rPr b="0" lang="ru-RU" sz="1400" spc="-1" strike="noStrike">
                <a:latin typeface="Times New Roman"/>
              </a:rPr>
              <a:t>&lt;дата/время&gt;</a:t>
            </a:r>
            <a:endParaRPr b="0" lang="ru-RU" sz="1400" spc="-1" strike="noStrike">
              <a:latin typeface="Times New Roman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ftr" idx="3"/>
          </p:nvPr>
        </p:nvSpPr>
        <p:spPr>
          <a:xfrm>
            <a:off x="3124080" y="4767120"/>
            <a:ext cx="2895120" cy="273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ctr">
              <a:buNone/>
              <a:defRPr b="0" lang="ru-RU" sz="1400" spc="-1" strike="noStrike">
                <a:latin typeface="Times New Roman"/>
              </a:defRPr>
            </a:lvl1pPr>
          </a:lstStyle>
          <a:p>
            <a:pPr algn="ctr">
              <a:buNone/>
            </a:pPr>
            <a:r>
              <a:rPr b="0" lang="ru-RU" sz="1400" spc="-1" strike="noStrike">
                <a:latin typeface="Times New Roman"/>
              </a:rPr>
              <a:t>&lt;нижний колонтитул&gt;</a:t>
            </a:r>
            <a:endParaRPr b="0" lang="ru-RU" sz="1400" spc="-1" strike="noStrike">
              <a:latin typeface="Times New Roman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sldNum" idx="4"/>
          </p:nvPr>
        </p:nvSpPr>
        <p:spPr>
          <a:xfrm>
            <a:off x="655308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0" lang="ru" sz="9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08EF0E89-A7C8-4D83-B9D4-3D7073241F21}" type="slidenum">
              <a:rPr b="0" lang="ru" sz="900" spc="-1" strike="noStrike">
                <a:solidFill>
                  <a:srgbClr val="888888"/>
                </a:solidFill>
                <a:latin typeface="Calibri"/>
                <a:ea typeface="Calibri"/>
              </a:rPr>
              <a:t>&lt;номер&gt;</a:t>
            </a:fld>
            <a:endParaRPr b="0" lang="ru-RU" sz="9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7.jpeg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3.jpeg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6.jpeg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9.jpeg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slideLayout" Target="../slideLayouts/slideLayout1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2.jpeg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slideLayout" Target="../slideLayouts/slideLayout1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5.jpeg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61;p14" descr=""/>
          <p:cNvPicPr/>
          <p:nvPr/>
        </p:nvPicPr>
        <p:blipFill>
          <a:blip r:embed="rId1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ln w="0">
            <a:noFill/>
          </a:ln>
        </p:spPr>
      </p:pic>
      <p:pic>
        <p:nvPicPr>
          <p:cNvPr id="87" name="Google Shape;62;p14" descr=""/>
          <p:cNvPicPr/>
          <p:nvPr/>
        </p:nvPicPr>
        <p:blipFill>
          <a:blip r:embed="rId2"/>
          <a:stretch/>
        </p:blipFill>
        <p:spPr>
          <a:xfrm>
            <a:off x="853200" y="3867840"/>
            <a:ext cx="2926440" cy="8280"/>
          </a:xfrm>
          <a:prstGeom prst="rect">
            <a:avLst/>
          </a:prstGeom>
          <a:ln w="0">
            <a:noFill/>
          </a:ln>
        </p:spPr>
      </p:pic>
      <p:pic>
        <p:nvPicPr>
          <p:cNvPr id="88" name="Google Shape;63;p14" descr=""/>
          <p:cNvPicPr/>
          <p:nvPr/>
        </p:nvPicPr>
        <p:blipFill>
          <a:blip r:embed="rId3"/>
          <a:stretch/>
        </p:blipFill>
        <p:spPr>
          <a:xfrm>
            <a:off x="725760" y="771480"/>
            <a:ext cx="3125880" cy="729360"/>
          </a:xfrm>
          <a:prstGeom prst="rect">
            <a:avLst/>
          </a:prstGeom>
          <a:ln w="0">
            <a:noFill/>
          </a:ln>
        </p:spPr>
      </p:pic>
      <p:sp>
        <p:nvSpPr>
          <p:cNvPr id="89" name="Google Shape;64;p14"/>
          <p:cNvSpPr/>
          <p:nvPr/>
        </p:nvSpPr>
        <p:spPr>
          <a:xfrm>
            <a:off x="725760" y="1712160"/>
            <a:ext cx="8041680" cy="11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ru-RU" sz="3200" spc="-1" strike="noStrike">
                <a:solidFill>
                  <a:srgbClr val="ffffff"/>
                </a:solidFill>
                <a:latin typeface="Arial"/>
                <a:ea typeface="Arial"/>
              </a:rPr>
              <a:t>Виртуальный тренер: сравнение движений с эталонным видео</a:t>
            </a:r>
            <a:endParaRPr b="0" lang="ru-RU" sz="3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3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3200" spc="-1" strike="noStrike">
              <a:latin typeface="Arial"/>
            </a:endParaRPr>
          </a:p>
        </p:txBody>
      </p:sp>
      <p:sp>
        <p:nvSpPr>
          <p:cNvPr id="90" name="Google Shape;65;p14"/>
          <p:cNvSpPr/>
          <p:nvPr/>
        </p:nvSpPr>
        <p:spPr>
          <a:xfrm>
            <a:off x="755640" y="3241440"/>
            <a:ext cx="6750360" cy="61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" sz="1600" spc="-1" strike="noStrike">
                <a:solidFill>
                  <a:srgbClr val="ffffff"/>
                </a:solidFill>
                <a:latin typeface="Roboto"/>
                <a:ea typeface="Roboto"/>
              </a:rPr>
              <a:t>Выполнил: Вохмянин Д.А.</a:t>
            </a:r>
            <a:endParaRPr b="0" lang="ru-RU" sz="16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" sz="1600" spc="-1" strike="noStrike">
                <a:solidFill>
                  <a:srgbClr val="ffffff"/>
                </a:solidFill>
                <a:latin typeface="Roboto"/>
                <a:ea typeface="Roboto"/>
              </a:rPr>
              <a:t>Группа: </a:t>
            </a:r>
            <a:r>
              <a:rPr b="0" lang="en-US" sz="1600" spc="-1" strike="noStrike">
                <a:solidFill>
                  <a:srgbClr val="ffffff"/>
                </a:solidFill>
                <a:latin typeface="Roboto"/>
                <a:ea typeface="Roboto"/>
              </a:rPr>
              <a:t>DSPR-1</a:t>
            </a:r>
            <a:r>
              <a:rPr b="0" lang="ru-RU" sz="1600" spc="-1" strike="noStrike">
                <a:solidFill>
                  <a:srgbClr val="ffffff"/>
                </a:solidFill>
                <a:latin typeface="Roboto"/>
                <a:ea typeface="Roboto"/>
              </a:rPr>
              <a:t>82</a:t>
            </a:r>
            <a:endParaRPr b="0" lang="ru-RU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70;p15" descr=""/>
          <p:cNvPicPr/>
          <p:nvPr/>
        </p:nvPicPr>
        <p:blipFill>
          <a:blip r:embed="rId1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ln w="0">
            <a:noFill/>
          </a:ln>
        </p:spPr>
      </p:pic>
      <p:sp>
        <p:nvSpPr>
          <p:cNvPr id="92" name="Google Shape;71;p15"/>
          <p:cNvSpPr/>
          <p:nvPr/>
        </p:nvSpPr>
        <p:spPr>
          <a:xfrm>
            <a:off x="205200" y="196200"/>
            <a:ext cx="3514320" cy="21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" sz="800" spc="-1" strike="noStrike">
                <a:solidFill>
                  <a:srgbClr val="000000"/>
                </a:solidFill>
                <a:latin typeface="Roboto"/>
                <a:ea typeface="Roboto"/>
              </a:rPr>
              <a:t>Специализация «Data Science, Computer Vision»</a:t>
            </a:r>
            <a:endParaRPr b="0" lang="ru-RU" sz="800" spc="-1" strike="noStrike">
              <a:latin typeface="Arial"/>
            </a:endParaRPr>
          </a:p>
        </p:txBody>
      </p:sp>
      <p:pic>
        <p:nvPicPr>
          <p:cNvPr id="93" name="Google Shape;72;p15" descr=""/>
          <p:cNvPicPr/>
          <p:nvPr/>
        </p:nvPicPr>
        <p:blipFill>
          <a:blip r:embed="rId2"/>
          <a:stretch/>
        </p:blipFill>
        <p:spPr>
          <a:xfrm>
            <a:off x="7812360" y="187920"/>
            <a:ext cx="1079640" cy="245880"/>
          </a:xfrm>
          <a:prstGeom prst="rect">
            <a:avLst/>
          </a:prstGeom>
          <a:ln w="0">
            <a:noFill/>
          </a:ln>
        </p:spPr>
      </p:pic>
      <p:pic>
        <p:nvPicPr>
          <p:cNvPr id="94" name="Google Shape;73;p15" descr=""/>
          <p:cNvPicPr/>
          <p:nvPr/>
        </p:nvPicPr>
        <p:blipFill>
          <a:blip r:embed="rId3"/>
          <a:stretch/>
        </p:blipFill>
        <p:spPr>
          <a:xfrm>
            <a:off x="-1091160" y="474840"/>
            <a:ext cx="2926440" cy="8280"/>
          </a:xfrm>
          <a:prstGeom prst="rect">
            <a:avLst/>
          </a:prstGeom>
          <a:ln w="0">
            <a:noFill/>
          </a:ln>
        </p:spPr>
      </p:pic>
      <p:sp>
        <p:nvSpPr>
          <p:cNvPr id="95" name="Google Shape;74;p15"/>
          <p:cNvSpPr/>
          <p:nvPr/>
        </p:nvSpPr>
        <p:spPr>
          <a:xfrm>
            <a:off x="323640" y="690120"/>
            <a:ext cx="313308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" sz="1800" spc="-1" strike="noStrike">
                <a:solidFill>
                  <a:srgbClr val="000000"/>
                </a:solidFill>
                <a:latin typeface="Roboto Black"/>
                <a:ea typeface="Roboto Black"/>
              </a:rPr>
              <a:t>О чём Ваш проект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96" name="Google Shape;75;p15"/>
          <p:cNvSpPr/>
          <p:nvPr/>
        </p:nvSpPr>
        <p:spPr>
          <a:xfrm>
            <a:off x="539640" y="1551960"/>
            <a:ext cx="3528000" cy="10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7" name="Google Shape;76;p15"/>
          <p:cNvSpPr/>
          <p:nvPr/>
        </p:nvSpPr>
        <p:spPr>
          <a:xfrm>
            <a:off x="526320" y="1244160"/>
            <a:ext cx="3514320" cy="94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ru" sz="1200" spc="-1" strike="noStrike">
                <a:solidFill>
                  <a:srgbClr val="000000"/>
                </a:solidFill>
                <a:latin typeface="Roboto"/>
                <a:ea typeface="Roboto"/>
              </a:rPr>
              <a:t>Тема</a:t>
            </a:r>
            <a:r>
              <a:rPr b="1" lang="ru-RU" sz="1200" spc="-1" strike="noStrike">
                <a:solidFill>
                  <a:srgbClr val="000000"/>
                </a:solidFill>
                <a:latin typeface="Roboto"/>
                <a:ea typeface="Roboto"/>
              </a:rPr>
              <a:t>:</a:t>
            </a:r>
            <a:endParaRPr b="0" lang="ru-RU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ru-RU" sz="1200" spc="-1" strike="noStrike">
                <a:solidFill>
                  <a:srgbClr val="000000"/>
                </a:solidFill>
                <a:latin typeface="Roboto"/>
                <a:ea typeface="Roboto"/>
              </a:rPr>
              <a:t>«С</a:t>
            </a:r>
            <a:r>
              <a:rPr b="0" lang="ru-RU" sz="1200" spc="-1" strike="noStrike">
                <a:solidFill>
                  <a:srgbClr val="000000"/>
                </a:solidFill>
                <a:latin typeface="Arial"/>
                <a:ea typeface="Arial"/>
              </a:rPr>
              <a:t>равнение движений на видео с использованием методов компьютерного зрения»</a:t>
            </a:r>
            <a:endParaRPr b="0" lang="ru-RU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200" spc="-1" strike="noStrike">
              <a:latin typeface="Arial"/>
            </a:endParaRPr>
          </a:p>
        </p:txBody>
      </p:sp>
      <p:sp>
        <p:nvSpPr>
          <p:cNvPr id="98" name="Google Shape;78;p15"/>
          <p:cNvSpPr/>
          <p:nvPr/>
        </p:nvSpPr>
        <p:spPr>
          <a:xfrm>
            <a:off x="4816440" y="1551960"/>
            <a:ext cx="4075560" cy="126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9" name="Google Shape;79;p15"/>
          <p:cNvSpPr/>
          <p:nvPr/>
        </p:nvSpPr>
        <p:spPr>
          <a:xfrm>
            <a:off x="4803480" y="1244160"/>
            <a:ext cx="3514320" cy="113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ru" sz="1200" spc="-1" strike="noStrike">
                <a:solidFill>
                  <a:srgbClr val="000000"/>
                </a:solidFill>
                <a:latin typeface="Roboto"/>
                <a:ea typeface="Roboto"/>
              </a:rPr>
              <a:t>Цель:</a:t>
            </a:r>
            <a:endParaRPr b="0" lang="ru-RU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ru" sz="1200" spc="-1" strike="noStrike">
                <a:solidFill>
                  <a:srgbClr val="000000"/>
                </a:solidFill>
                <a:latin typeface="Roboto"/>
                <a:ea typeface="Roboto"/>
              </a:rPr>
              <a:t>Р</a:t>
            </a:r>
            <a:r>
              <a:rPr b="0" lang="ru-RU" sz="1200" spc="-1" strike="noStrike">
                <a:solidFill>
                  <a:srgbClr val="000000"/>
                </a:solidFill>
                <a:latin typeface="Arial"/>
                <a:ea typeface="Arial"/>
              </a:rPr>
              <a:t>азработка модели, способной сравнивать движения человека на видео с эталонной моделью для оценки качества выполнения упражнений.</a:t>
            </a:r>
            <a:endParaRPr b="0" lang="ru-RU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200" spc="-1" strike="noStrike">
              <a:latin typeface="Arial"/>
            </a:endParaRPr>
          </a:p>
        </p:txBody>
      </p:sp>
      <p:sp>
        <p:nvSpPr>
          <p:cNvPr id="100" name="Google Shape;81;p15"/>
          <p:cNvSpPr/>
          <p:nvPr/>
        </p:nvSpPr>
        <p:spPr>
          <a:xfrm>
            <a:off x="539640" y="3393000"/>
            <a:ext cx="3528000" cy="126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1" name="Google Shape;82;p15"/>
          <p:cNvSpPr/>
          <p:nvPr/>
        </p:nvSpPr>
        <p:spPr>
          <a:xfrm>
            <a:off x="532800" y="2378520"/>
            <a:ext cx="4276800" cy="235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" sz="1200" spc="-1" strike="noStrike">
                <a:solidFill>
                  <a:srgbClr val="000000"/>
                </a:solidFill>
                <a:latin typeface="Roboto"/>
                <a:ea typeface="Roboto"/>
              </a:rPr>
              <a:t>Актуальность предложения: </a:t>
            </a:r>
            <a:endParaRPr b="0" lang="ru-RU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200" spc="-1" strike="noStrike">
                <a:solidFill>
                  <a:srgbClr val="000000"/>
                </a:solidFill>
                <a:latin typeface="Arial"/>
                <a:ea typeface="Arial"/>
              </a:rPr>
              <a:t>Рост доступности онлайн-обучения и фитнеса требует решений, которые могут </a:t>
            </a:r>
            <a:r>
              <a:rPr b="1" lang="ru-RU" sz="1200" spc="-1" strike="noStrike">
                <a:solidFill>
                  <a:srgbClr val="000000"/>
                </a:solidFill>
                <a:latin typeface="Arial"/>
                <a:ea typeface="Arial"/>
              </a:rPr>
              <a:t>автоматически оценивать технику движений</a:t>
            </a:r>
            <a:r>
              <a:rPr b="0" lang="ru-RU" sz="1200" spc="-1" strike="noStrike">
                <a:solidFill>
                  <a:srgbClr val="000000"/>
                </a:solidFill>
                <a:latin typeface="Arial"/>
                <a:ea typeface="Arial"/>
              </a:rPr>
              <a:t>.</a:t>
            </a:r>
            <a:endParaRPr b="0" lang="ru-RU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200" spc="-1" strike="noStrike">
                <a:solidFill>
                  <a:srgbClr val="000000"/>
                </a:solidFill>
                <a:latin typeface="Arial"/>
                <a:ea typeface="Arial"/>
              </a:rPr>
              <a:t>Использование модели компьютерного зрения позволяет </a:t>
            </a:r>
            <a:r>
              <a:rPr b="1" lang="ru-RU" sz="1200" spc="-1" strike="noStrike">
                <a:solidFill>
                  <a:srgbClr val="000000"/>
                </a:solidFill>
                <a:latin typeface="Arial"/>
                <a:ea typeface="Arial"/>
              </a:rPr>
              <a:t>снизить потребность в постоянном присутствии тренера, </a:t>
            </a:r>
            <a:r>
              <a:rPr b="0" lang="ru-RU" sz="1200" spc="-1" strike="noStrike">
                <a:solidFill>
                  <a:srgbClr val="000000"/>
                </a:solidFill>
                <a:latin typeface="Arial"/>
                <a:ea typeface="Arial"/>
              </a:rPr>
              <a:t>и, таким образом, соответствующие затраты бизнеса, а также затраты времени потребителя</a:t>
            </a:r>
            <a:endParaRPr b="0" lang="ru-RU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200" spc="-1" strike="noStrike">
              <a:latin typeface="Arial"/>
            </a:endParaRPr>
          </a:p>
        </p:txBody>
      </p:sp>
      <p:sp>
        <p:nvSpPr>
          <p:cNvPr id="102" name="Google Shape;84;p15"/>
          <p:cNvSpPr/>
          <p:nvPr/>
        </p:nvSpPr>
        <p:spPr>
          <a:xfrm>
            <a:off x="4501080" y="1347480"/>
            <a:ext cx="70560" cy="70560"/>
          </a:xfrm>
          <a:prstGeom prst="ellipse">
            <a:avLst/>
          </a:prstGeom>
          <a:solidFill>
            <a:srgbClr val="00b05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3" name="Google Shape;85;p15"/>
          <p:cNvSpPr/>
          <p:nvPr/>
        </p:nvSpPr>
        <p:spPr>
          <a:xfrm>
            <a:off x="-73080" y="3056040"/>
            <a:ext cx="46836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Google Shape;91;p16" descr=""/>
          <p:cNvPicPr/>
          <p:nvPr/>
        </p:nvPicPr>
        <p:blipFill>
          <a:blip r:embed="rId1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ln w="0">
            <a:noFill/>
          </a:ln>
        </p:spPr>
      </p:pic>
      <p:pic>
        <p:nvPicPr>
          <p:cNvPr id="105" name="Google Shape;92;p16" descr=""/>
          <p:cNvPicPr/>
          <p:nvPr/>
        </p:nvPicPr>
        <p:blipFill>
          <a:blip r:embed="rId2"/>
          <a:stretch/>
        </p:blipFill>
        <p:spPr>
          <a:xfrm>
            <a:off x="7812360" y="187920"/>
            <a:ext cx="1079640" cy="245880"/>
          </a:xfrm>
          <a:prstGeom prst="rect">
            <a:avLst/>
          </a:prstGeom>
          <a:ln w="0">
            <a:noFill/>
          </a:ln>
        </p:spPr>
      </p:pic>
      <p:pic>
        <p:nvPicPr>
          <p:cNvPr id="106" name="Google Shape;93;p16" descr=""/>
          <p:cNvPicPr/>
          <p:nvPr/>
        </p:nvPicPr>
        <p:blipFill>
          <a:blip r:embed="rId3"/>
          <a:stretch/>
        </p:blipFill>
        <p:spPr>
          <a:xfrm>
            <a:off x="-659160" y="474840"/>
            <a:ext cx="2926440" cy="8280"/>
          </a:xfrm>
          <a:prstGeom prst="rect">
            <a:avLst/>
          </a:prstGeom>
          <a:ln w="0">
            <a:noFill/>
          </a:ln>
        </p:spPr>
      </p:pic>
      <p:sp>
        <p:nvSpPr>
          <p:cNvPr id="107" name="Google Shape;94;p16"/>
          <p:cNvSpPr/>
          <p:nvPr/>
        </p:nvSpPr>
        <p:spPr>
          <a:xfrm>
            <a:off x="362880" y="1456200"/>
            <a:ext cx="431352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8" name="Google Shape;95;p16"/>
          <p:cNvSpPr/>
          <p:nvPr/>
        </p:nvSpPr>
        <p:spPr>
          <a:xfrm>
            <a:off x="284400" y="2523600"/>
            <a:ext cx="4392360" cy="119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800" spc="-1" strike="noStrike">
              <a:latin typeface="Arial"/>
            </a:endParaRPr>
          </a:p>
        </p:txBody>
      </p:sp>
      <p:sp>
        <p:nvSpPr>
          <p:cNvPr id="109" name="Google Shape;96;p16"/>
          <p:cNvSpPr/>
          <p:nvPr/>
        </p:nvSpPr>
        <p:spPr>
          <a:xfrm>
            <a:off x="849240" y="1117800"/>
            <a:ext cx="311076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" sz="1800" spc="-1" strike="noStrike">
                <a:solidFill>
                  <a:srgbClr val="000000"/>
                </a:solidFill>
                <a:latin typeface="Roboto Black"/>
                <a:ea typeface="Roboto Black"/>
              </a:rPr>
              <a:t>Продолжительность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110" name="Google Shape;97;p16"/>
          <p:cNvSpPr/>
          <p:nvPr/>
        </p:nvSpPr>
        <p:spPr>
          <a:xfrm>
            <a:off x="876960" y="1463040"/>
            <a:ext cx="290304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" sz="1050" spc="-1" strike="noStrike">
                <a:solidFill>
                  <a:srgbClr val="000000"/>
                </a:solidFill>
                <a:latin typeface="Roboto"/>
                <a:ea typeface="Roboto"/>
              </a:rPr>
              <a:t>каждого из этапов: </a:t>
            </a:r>
            <a:r>
              <a:rPr b="1" lang="ru-RU" sz="1050" spc="-1" strike="noStrike">
                <a:solidFill>
                  <a:srgbClr val="000000"/>
                </a:solidFill>
                <a:latin typeface="Roboto"/>
                <a:ea typeface="Roboto"/>
              </a:rPr>
              <a:t>по 2 часа на каждый этап</a:t>
            </a:r>
            <a:endParaRPr b="0" lang="ru-RU" sz="1050" spc="-1" strike="noStrike">
              <a:latin typeface="Arial"/>
            </a:endParaRPr>
          </a:p>
        </p:txBody>
      </p:sp>
      <p:sp>
        <p:nvSpPr>
          <p:cNvPr id="111" name="Google Shape;98;p16"/>
          <p:cNvSpPr/>
          <p:nvPr/>
        </p:nvSpPr>
        <p:spPr>
          <a:xfrm>
            <a:off x="804240" y="2192040"/>
            <a:ext cx="118764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" sz="1800" spc="-1" strike="noStrike">
                <a:solidFill>
                  <a:srgbClr val="000000"/>
                </a:solidFill>
                <a:latin typeface="Roboto Black"/>
                <a:ea typeface="Roboto Black"/>
              </a:rPr>
              <a:t>Сроки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112" name="Google Shape;99;p16"/>
          <p:cNvSpPr/>
          <p:nvPr/>
        </p:nvSpPr>
        <p:spPr>
          <a:xfrm>
            <a:off x="849240" y="2558880"/>
            <a:ext cx="130176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" sz="1050" spc="-1" strike="noStrike">
                <a:solidFill>
                  <a:srgbClr val="000000"/>
                </a:solidFill>
                <a:latin typeface="Roboto"/>
                <a:ea typeface="Roboto"/>
              </a:rPr>
              <a:t>всего проекта: 10 </a:t>
            </a:r>
            <a:r>
              <a:rPr b="1" lang="ru-RU" sz="1050" spc="-1" strike="noStrike">
                <a:solidFill>
                  <a:srgbClr val="000000"/>
                </a:solidFill>
                <a:latin typeface="Roboto"/>
                <a:ea typeface="Roboto"/>
              </a:rPr>
              <a:t>часов</a:t>
            </a:r>
            <a:endParaRPr b="0" lang="ru-RU" sz="1050" spc="-1" strike="noStrike">
              <a:latin typeface="Arial"/>
            </a:endParaRPr>
          </a:p>
        </p:txBody>
      </p:sp>
      <p:sp>
        <p:nvSpPr>
          <p:cNvPr id="113" name="Google Shape;100;p16"/>
          <p:cNvSpPr/>
          <p:nvPr/>
        </p:nvSpPr>
        <p:spPr>
          <a:xfrm>
            <a:off x="4795200" y="1117800"/>
            <a:ext cx="4228200" cy="397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" sz="1200" spc="-1" strike="noStrike">
                <a:solidFill>
                  <a:srgbClr val="000000"/>
                </a:solidFill>
                <a:latin typeface="Roboto Black"/>
                <a:ea typeface="Roboto Black"/>
              </a:rPr>
              <a:t>Технические ресурсы </a:t>
            </a:r>
            <a:endParaRPr b="0" lang="ru-RU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1100" spc="-1" strike="noStrike">
                <a:solidFill>
                  <a:srgbClr val="000000"/>
                </a:solidFill>
                <a:latin typeface="Arial"/>
                <a:ea typeface="Arial"/>
              </a:rPr>
              <a:t>Оборудование:</a:t>
            </a:r>
            <a:endParaRPr b="0" lang="ru-RU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1100" spc="-1" strike="noStrike">
                <a:solidFill>
                  <a:srgbClr val="000000"/>
                </a:solidFill>
                <a:latin typeface="Arial"/>
                <a:ea typeface="Arial"/>
              </a:rPr>
              <a:t>Персональный компьютер</a:t>
            </a:r>
            <a:r>
              <a:rPr b="0" lang="ru-RU" sz="1100" spc="-1" strike="noStrike">
                <a:solidFill>
                  <a:srgbClr val="000000"/>
                </a:solidFill>
                <a:latin typeface="Arial"/>
                <a:ea typeface="Arial"/>
              </a:rPr>
              <a:t> с процессором </a:t>
            </a:r>
            <a:r>
              <a:rPr b="1" lang="en-US" sz="1100" spc="-1" strike="noStrike">
                <a:solidFill>
                  <a:srgbClr val="000000"/>
                </a:solidFill>
                <a:latin typeface="Arial"/>
                <a:ea typeface="Arial"/>
              </a:rPr>
              <a:t>AMD Ryzen 7 5700X</a:t>
            </a:r>
            <a:r>
              <a:rPr b="0" lang="en-US" sz="1100" spc="-1" strike="noStrike">
                <a:solidFill>
                  <a:srgbClr val="000000"/>
                </a:solidFill>
                <a:latin typeface="Arial"/>
                <a:ea typeface="Arial"/>
              </a:rPr>
              <a:t> </a:t>
            </a:r>
            <a:r>
              <a:rPr b="0" lang="ru-RU" sz="1100" spc="-1" strike="noStrike">
                <a:solidFill>
                  <a:srgbClr val="000000"/>
                </a:solidFill>
                <a:latin typeface="Arial"/>
                <a:ea typeface="Arial"/>
              </a:rPr>
              <a:t>и видеокартой </a:t>
            </a:r>
            <a:r>
              <a:rPr b="1" lang="ru-RU" sz="1100" spc="-1" strike="noStrike">
                <a:solidFill>
                  <a:srgbClr val="000000"/>
                </a:solidFill>
                <a:latin typeface="Arial"/>
                <a:ea typeface="Arial"/>
              </a:rPr>
              <a:t>NVIDIA GeForce </a:t>
            </a:r>
            <a:r>
              <a:rPr b="1" lang="en-US" sz="1100" spc="-1" strike="noStrike">
                <a:solidFill>
                  <a:srgbClr val="000000"/>
                </a:solidFill>
                <a:latin typeface="Arial"/>
                <a:ea typeface="Arial"/>
              </a:rPr>
              <a:t>R</a:t>
            </a:r>
            <a:r>
              <a:rPr b="1" lang="ru-RU" sz="1100" spc="-1" strike="noStrike">
                <a:solidFill>
                  <a:srgbClr val="000000"/>
                </a:solidFill>
                <a:latin typeface="Arial"/>
                <a:ea typeface="Arial"/>
              </a:rPr>
              <a:t>TX </a:t>
            </a:r>
            <a:r>
              <a:rPr b="1" lang="en-US" sz="1100" spc="-1" strike="noStrike">
                <a:solidFill>
                  <a:srgbClr val="000000"/>
                </a:solidFill>
                <a:latin typeface="Arial"/>
                <a:ea typeface="Arial"/>
              </a:rPr>
              <a:t>5070</a:t>
            </a:r>
            <a:r>
              <a:rPr b="1" lang="ru-RU" sz="1100" spc="-1" strike="noStrike">
                <a:solidFill>
                  <a:srgbClr val="000000"/>
                </a:solidFill>
                <a:latin typeface="Arial"/>
                <a:ea typeface="Arial"/>
              </a:rPr>
              <a:t> (</a:t>
            </a:r>
            <a:r>
              <a:rPr b="1" lang="en-US" sz="1100" spc="-1" strike="noStrike">
                <a:solidFill>
                  <a:srgbClr val="000000"/>
                </a:solidFill>
                <a:latin typeface="Arial"/>
                <a:ea typeface="Arial"/>
              </a:rPr>
              <a:t>12</a:t>
            </a:r>
            <a:r>
              <a:rPr b="1" lang="ru-RU" sz="1100" spc="-1" strike="noStrike">
                <a:solidFill>
                  <a:srgbClr val="000000"/>
                </a:solidFill>
                <a:latin typeface="Arial"/>
                <a:ea typeface="Arial"/>
              </a:rPr>
              <a:t>GB VRAM)</a:t>
            </a:r>
            <a:endParaRPr b="0" lang="ru-RU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br/>
            <a:r>
              <a:rPr b="1" lang="ru-RU" sz="1100" spc="-1" strike="noStrike">
                <a:solidFill>
                  <a:srgbClr val="000000"/>
                </a:solidFill>
                <a:latin typeface="Arial"/>
                <a:ea typeface="Arial"/>
              </a:rPr>
              <a:t>Программное обеспечение:</a:t>
            </a:r>
            <a:endParaRPr b="0" lang="ru-RU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1100" spc="-1" strike="noStrike">
                <a:solidFill>
                  <a:srgbClr val="000000"/>
                </a:solidFill>
                <a:latin typeface="Arial"/>
                <a:ea typeface="Arial"/>
              </a:rPr>
              <a:t>Язык:</a:t>
            </a:r>
            <a:r>
              <a:rPr b="0" lang="ru-RU" sz="1100" spc="-1" strike="noStrike">
                <a:solidFill>
                  <a:srgbClr val="000000"/>
                </a:solidFill>
                <a:latin typeface="Arial"/>
                <a:ea typeface="Arial"/>
              </a:rPr>
              <a:t> Python </a:t>
            </a:r>
            <a:r>
              <a:rPr b="0" lang="en-US" sz="1100" spc="-1" strike="noStrike">
                <a:solidFill>
                  <a:srgbClr val="000000"/>
                </a:solidFill>
                <a:latin typeface="Arial"/>
                <a:ea typeface="Arial"/>
              </a:rPr>
              <a:t>3.11</a:t>
            </a:r>
            <a:endParaRPr b="0" lang="ru-RU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1100" spc="-1" strike="noStrike">
                <a:solidFill>
                  <a:srgbClr val="000000"/>
                </a:solidFill>
                <a:latin typeface="Arial"/>
                <a:ea typeface="Arial"/>
              </a:rPr>
              <a:t>Библиотеки:</a:t>
            </a:r>
            <a:endParaRPr b="0" lang="ru-RU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  <a:ea typeface="Arial"/>
              </a:rPr>
              <a:t>PyTorch, torchvision </a:t>
            </a:r>
            <a:r>
              <a:rPr b="0" lang="ru-RU" sz="1100" spc="-1" strike="noStrike">
                <a:solidFill>
                  <a:srgbClr val="000000"/>
                </a:solidFill>
                <a:latin typeface="Arial"/>
                <a:ea typeface="Arial"/>
              </a:rPr>
              <a:t>с </a:t>
            </a:r>
            <a:r>
              <a:rPr b="0" lang="en-US" sz="1100" spc="-1" strike="noStrike">
                <a:solidFill>
                  <a:srgbClr val="000000"/>
                </a:solidFill>
                <a:latin typeface="Arial"/>
                <a:ea typeface="Arial"/>
              </a:rPr>
              <a:t>CUDA 12.8 — </a:t>
            </a:r>
            <a:r>
              <a:rPr b="0" lang="ru-RU" sz="1100" spc="-1" strike="noStrike">
                <a:solidFill>
                  <a:srgbClr val="000000"/>
                </a:solidFill>
                <a:latin typeface="Arial"/>
                <a:ea typeface="Arial"/>
              </a:rPr>
              <a:t>для загрузки и использования модели </a:t>
            </a:r>
            <a:r>
              <a:rPr b="0" lang="en-US" sz="1100" spc="-1" strike="noStrike">
                <a:solidFill>
                  <a:srgbClr val="000000"/>
                </a:solidFill>
                <a:latin typeface="Arial"/>
                <a:ea typeface="Arial"/>
              </a:rPr>
              <a:t>Keypoint R-CNN</a:t>
            </a:r>
            <a:endParaRPr b="0" lang="ru-RU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  <a:ea typeface="Arial"/>
              </a:rPr>
              <a:t>OpenCV — </a:t>
            </a:r>
            <a:r>
              <a:rPr b="0" lang="ru-RU" sz="1100" spc="-1" strike="noStrike">
                <a:solidFill>
                  <a:srgbClr val="000000"/>
                </a:solidFill>
                <a:latin typeface="Arial"/>
                <a:ea typeface="Arial"/>
              </a:rPr>
              <a:t>обработка видео и изображений</a:t>
            </a:r>
            <a:endParaRPr b="0" lang="ru-RU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  <a:ea typeface="Arial"/>
              </a:rPr>
              <a:t>Matplotlib — </a:t>
            </a:r>
            <a:r>
              <a:rPr b="0" lang="ru-RU" sz="1100" spc="-1" strike="noStrike">
                <a:solidFill>
                  <a:srgbClr val="000000"/>
                </a:solidFill>
                <a:latin typeface="Arial"/>
                <a:ea typeface="Arial"/>
              </a:rPr>
              <a:t>визуализация метрик и каркасов</a:t>
            </a:r>
            <a:endParaRPr b="0" lang="ru-RU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  <a:ea typeface="Arial"/>
              </a:rPr>
              <a:t>NumPy — </a:t>
            </a:r>
            <a:r>
              <a:rPr b="0" lang="ru-RU" sz="1100" spc="-1" strike="noStrike">
                <a:solidFill>
                  <a:srgbClr val="000000"/>
                </a:solidFill>
                <a:latin typeface="Arial"/>
                <a:ea typeface="Arial"/>
              </a:rPr>
              <a:t>основная математика</a:t>
            </a:r>
            <a:endParaRPr b="0" lang="ru-RU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  <a:ea typeface="Arial"/>
              </a:rPr>
              <a:t>Git — </a:t>
            </a:r>
            <a:r>
              <a:rPr b="0" lang="ru-RU" sz="1100" spc="-1" strike="noStrike">
                <a:solidFill>
                  <a:srgbClr val="000000"/>
                </a:solidFill>
                <a:latin typeface="Arial"/>
                <a:ea typeface="Arial"/>
              </a:rPr>
              <a:t>управление версиями</a:t>
            </a:r>
            <a:endParaRPr b="0" lang="ru-RU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1100" spc="-1" strike="noStrike">
                <a:solidFill>
                  <a:srgbClr val="000000"/>
                </a:solidFill>
                <a:latin typeface="Arial"/>
                <a:ea typeface="Arial"/>
              </a:rPr>
              <a:t>Инструменты разработки:</a:t>
            </a:r>
            <a:endParaRPr b="0" lang="ru-RU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100" spc="-1" strike="noStrike">
                <a:solidFill>
                  <a:srgbClr val="000000"/>
                </a:solidFill>
                <a:latin typeface="Arial"/>
                <a:ea typeface="Arial"/>
              </a:rPr>
              <a:t>Среда разработки: VS Code</a:t>
            </a:r>
            <a:endParaRPr b="0" lang="ru-RU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100" spc="-1" strike="noStrike">
                <a:solidFill>
                  <a:srgbClr val="000000"/>
                </a:solidFill>
                <a:latin typeface="Arial"/>
                <a:ea typeface="Arial"/>
              </a:rPr>
              <a:t>Интерфейс: PowerShell / Терминал</a:t>
            </a:r>
            <a:endParaRPr b="0" lang="ru-RU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100" spc="-1" strike="noStrike">
              <a:latin typeface="Arial"/>
            </a:endParaRPr>
          </a:p>
        </p:txBody>
      </p:sp>
      <p:sp>
        <p:nvSpPr>
          <p:cNvPr id="114" name="Google Shape;101;p16"/>
          <p:cNvSpPr/>
          <p:nvPr/>
        </p:nvSpPr>
        <p:spPr>
          <a:xfrm>
            <a:off x="358920" y="699480"/>
            <a:ext cx="297792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" sz="1800" spc="-1" strike="noStrike">
                <a:solidFill>
                  <a:srgbClr val="000000"/>
                </a:solidFill>
                <a:latin typeface="Roboto Black"/>
                <a:ea typeface="Roboto Black"/>
              </a:rPr>
              <a:t>Планирование</a:t>
            </a:r>
            <a:endParaRPr b="0" lang="ru-RU" sz="1800" spc="-1" strike="noStrike">
              <a:latin typeface="Arial"/>
            </a:endParaRPr>
          </a:p>
        </p:txBody>
      </p:sp>
      <p:pic>
        <p:nvPicPr>
          <p:cNvPr id="115" name="Google Shape;102;p16" descr=""/>
          <p:cNvPicPr/>
          <p:nvPr/>
        </p:nvPicPr>
        <p:blipFill>
          <a:blip r:embed="rId4"/>
          <a:stretch/>
        </p:blipFill>
        <p:spPr>
          <a:xfrm>
            <a:off x="4274280" y="1072080"/>
            <a:ext cx="462240" cy="460080"/>
          </a:xfrm>
          <a:prstGeom prst="rect">
            <a:avLst/>
          </a:prstGeom>
          <a:ln w="0">
            <a:noFill/>
          </a:ln>
        </p:spPr>
      </p:pic>
      <p:pic>
        <p:nvPicPr>
          <p:cNvPr id="116" name="Google Shape;103;p16" descr=""/>
          <p:cNvPicPr/>
          <p:nvPr/>
        </p:nvPicPr>
        <p:blipFill>
          <a:blip r:embed="rId5"/>
          <a:stretch/>
        </p:blipFill>
        <p:spPr>
          <a:xfrm>
            <a:off x="402480" y="2163600"/>
            <a:ext cx="446040" cy="446040"/>
          </a:xfrm>
          <a:prstGeom prst="rect">
            <a:avLst/>
          </a:prstGeom>
          <a:ln w="0">
            <a:noFill/>
          </a:ln>
        </p:spPr>
      </p:pic>
      <p:pic>
        <p:nvPicPr>
          <p:cNvPr id="117" name="Google Shape;104;p16" descr=""/>
          <p:cNvPicPr/>
          <p:nvPr/>
        </p:nvPicPr>
        <p:blipFill>
          <a:blip r:embed="rId6"/>
          <a:stretch/>
        </p:blipFill>
        <p:spPr>
          <a:xfrm>
            <a:off x="421560" y="1101600"/>
            <a:ext cx="455040" cy="457200"/>
          </a:xfrm>
          <a:prstGeom prst="rect">
            <a:avLst/>
          </a:prstGeom>
          <a:ln w="0">
            <a:noFill/>
          </a:ln>
        </p:spPr>
      </p:pic>
      <p:sp>
        <p:nvSpPr>
          <p:cNvPr id="118" name="Google Shape;105;p16"/>
          <p:cNvSpPr/>
          <p:nvPr/>
        </p:nvSpPr>
        <p:spPr>
          <a:xfrm>
            <a:off x="205200" y="196200"/>
            <a:ext cx="3514320" cy="21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0;p17" descr=""/>
          <p:cNvPicPr/>
          <p:nvPr/>
        </p:nvPicPr>
        <p:blipFill>
          <a:blip r:embed="rId1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ln w="0">
            <a:noFill/>
          </a:ln>
        </p:spPr>
      </p:pic>
      <p:pic>
        <p:nvPicPr>
          <p:cNvPr id="120" name="Google Shape;111;p17" descr=""/>
          <p:cNvPicPr/>
          <p:nvPr/>
        </p:nvPicPr>
        <p:blipFill>
          <a:blip r:embed="rId2"/>
          <a:stretch/>
        </p:blipFill>
        <p:spPr>
          <a:xfrm>
            <a:off x="7812360" y="187920"/>
            <a:ext cx="1079640" cy="245880"/>
          </a:xfrm>
          <a:prstGeom prst="rect">
            <a:avLst/>
          </a:prstGeom>
          <a:ln w="0">
            <a:noFill/>
          </a:ln>
        </p:spPr>
      </p:pic>
      <p:sp>
        <p:nvSpPr>
          <p:cNvPr id="121" name="Google Shape;112;p17"/>
          <p:cNvSpPr/>
          <p:nvPr/>
        </p:nvSpPr>
        <p:spPr>
          <a:xfrm>
            <a:off x="395640" y="1004040"/>
            <a:ext cx="4571640" cy="30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" sz="2400" spc="-1" strike="noStrike">
                <a:solidFill>
                  <a:srgbClr val="000000"/>
                </a:solidFill>
                <a:latin typeface="Roboto Black"/>
                <a:ea typeface="Roboto Black"/>
              </a:rPr>
              <a:t>Источники данных</a:t>
            </a:r>
            <a:endParaRPr b="0" lang="ru-RU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1400" spc="-1" strike="noStrike">
                <a:solidFill>
                  <a:srgbClr val="000000"/>
                </a:solidFill>
                <a:latin typeface="Arial"/>
                <a:ea typeface="Arial"/>
              </a:rPr>
              <a:t>Эталонная видеозапись</a:t>
            </a:r>
            <a:r>
              <a:rPr b="0" lang="ru-RU" sz="1400" spc="-1" strike="noStrike">
                <a:solidFill>
                  <a:srgbClr val="000000"/>
                </a:solidFill>
                <a:latin typeface="Arial"/>
                <a:ea typeface="Arial"/>
              </a:rPr>
              <a:t>: загруженная запись с канала «ТРЕНЕР»</a:t>
            </a:r>
            <a:endParaRPr b="0" lang="ru-RU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1400" spc="-1" strike="noStrike">
                <a:solidFill>
                  <a:srgbClr val="000000"/>
                </a:solidFill>
                <a:latin typeface="Arial"/>
                <a:ea typeface="Arial"/>
              </a:rPr>
              <a:t>Пользовательская видеозапись</a:t>
            </a:r>
            <a:r>
              <a:rPr b="0" lang="ru-RU" sz="1400" spc="-1" strike="noStrike">
                <a:solidFill>
                  <a:srgbClr val="000000"/>
                </a:solidFill>
                <a:latin typeface="Arial"/>
                <a:ea typeface="Arial"/>
              </a:rPr>
              <a:t>: собственная видеозапись выполнения упражнения</a:t>
            </a:r>
            <a:endParaRPr b="0" lang="ru-RU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1400" spc="-1" strike="noStrike">
                <a:solidFill>
                  <a:srgbClr val="000000"/>
                </a:solidFill>
                <a:latin typeface="Arial"/>
                <a:ea typeface="Arial"/>
              </a:rPr>
              <a:t>Продолжительность видеозаписей </a:t>
            </a:r>
            <a:r>
              <a:rPr b="0" lang="ru-RU" sz="1400" spc="-1" strike="noStrike">
                <a:solidFill>
                  <a:srgbClr val="000000"/>
                </a:solidFill>
                <a:latin typeface="Arial"/>
                <a:ea typeface="Arial"/>
              </a:rPr>
              <a:t>была уменьшена до 15 секунд.</a:t>
            </a:r>
            <a:endParaRPr b="0" lang="ru-RU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Arial"/>
                <a:ea typeface="Arial"/>
              </a:rPr>
              <a:t> </a:t>
            </a:r>
            <a:endParaRPr b="0" lang="ru-RU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1400" spc="-1" strike="noStrike">
                <a:solidFill>
                  <a:srgbClr val="000000"/>
                </a:solidFill>
                <a:latin typeface="Arial"/>
                <a:ea typeface="Arial"/>
              </a:rPr>
              <a:t>Формат данных: </a:t>
            </a:r>
            <a:r>
              <a:rPr b="0" lang="ru-RU" sz="1400" spc="-1" strike="noStrike">
                <a:solidFill>
                  <a:srgbClr val="000000"/>
                </a:solidFill>
                <a:latin typeface="Arial"/>
                <a:ea typeface="Arial"/>
              </a:rPr>
              <a:t>.mp4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122" name="Google Shape;113;p17"/>
          <p:cNvSpPr/>
          <p:nvPr/>
        </p:nvSpPr>
        <p:spPr>
          <a:xfrm>
            <a:off x="395640" y="3166920"/>
            <a:ext cx="1800000" cy="78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3" name="Google Shape;114;p17"/>
          <p:cNvSpPr/>
          <p:nvPr/>
        </p:nvSpPr>
        <p:spPr>
          <a:xfrm>
            <a:off x="413280" y="2643840"/>
            <a:ext cx="223200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4" name="Google Shape;115;p17"/>
          <p:cNvSpPr/>
          <p:nvPr/>
        </p:nvSpPr>
        <p:spPr>
          <a:xfrm>
            <a:off x="395640" y="1396440"/>
            <a:ext cx="2232000" cy="255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125" name="Google Shape;116;p17" descr=""/>
          <p:cNvPicPr/>
          <p:nvPr/>
        </p:nvPicPr>
        <p:blipFill>
          <a:blip r:embed="rId3"/>
          <a:stretch/>
        </p:blipFill>
        <p:spPr>
          <a:xfrm>
            <a:off x="-1476720" y="474840"/>
            <a:ext cx="2926440" cy="8280"/>
          </a:xfrm>
          <a:prstGeom prst="rect">
            <a:avLst/>
          </a:prstGeom>
          <a:ln w="0">
            <a:noFill/>
          </a:ln>
        </p:spPr>
      </p:pic>
      <p:sp>
        <p:nvSpPr>
          <p:cNvPr id="126" name="Google Shape;117;p17"/>
          <p:cNvSpPr/>
          <p:nvPr/>
        </p:nvSpPr>
        <p:spPr>
          <a:xfrm>
            <a:off x="2483640" y="3363840"/>
            <a:ext cx="1872000" cy="50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7" name="Google Shape;118;p17"/>
          <p:cNvSpPr/>
          <p:nvPr/>
        </p:nvSpPr>
        <p:spPr>
          <a:xfrm>
            <a:off x="2501640" y="2643840"/>
            <a:ext cx="1926000" cy="73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8" name="Google Shape;119;p17"/>
          <p:cNvSpPr/>
          <p:nvPr/>
        </p:nvSpPr>
        <p:spPr>
          <a:xfrm>
            <a:off x="4644000" y="3363840"/>
            <a:ext cx="1872000" cy="78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9" name="Google Shape;120;p17"/>
          <p:cNvSpPr/>
          <p:nvPr/>
        </p:nvSpPr>
        <p:spPr>
          <a:xfrm>
            <a:off x="4662000" y="2643840"/>
            <a:ext cx="2142000" cy="73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0" name="Google Shape;121;p17"/>
          <p:cNvSpPr/>
          <p:nvPr/>
        </p:nvSpPr>
        <p:spPr>
          <a:xfrm>
            <a:off x="6804360" y="3166920"/>
            <a:ext cx="1912680" cy="92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1" name="Google Shape;122;p17"/>
          <p:cNvSpPr/>
          <p:nvPr/>
        </p:nvSpPr>
        <p:spPr>
          <a:xfrm>
            <a:off x="6822000" y="2643840"/>
            <a:ext cx="223200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2" name="Google Shape;123;p17"/>
          <p:cNvSpPr/>
          <p:nvPr/>
        </p:nvSpPr>
        <p:spPr>
          <a:xfrm>
            <a:off x="205200" y="196200"/>
            <a:ext cx="3514320" cy="21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" sz="800" spc="-1" strike="noStrike">
                <a:solidFill>
                  <a:srgbClr val="000000"/>
                </a:solidFill>
                <a:latin typeface="Roboto"/>
                <a:ea typeface="Roboto"/>
              </a:rPr>
              <a:t>Специализация «Data Science, Computer Vision»</a:t>
            </a:r>
            <a:endParaRPr b="0" lang="ru-RU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" name="Google Shape;128;p18" descr=""/>
          <p:cNvPicPr/>
          <p:nvPr/>
        </p:nvPicPr>
        <p:blipFill>
          <a:blip r:embed="rId1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ln w="0">
            <a:noFill/>
          </a:ln>
        </p:spPr>
      </p:pic>
      <p:pic>
        <p:nvPicPr>
          <p:cNvPr id="134" name="Google Shape;129;p18" descr=""/>
          <p:cNvPicPr/>
          <p:nvPr/>
        </p:nvPicPr>
        <p:blipFill>
          <a:blip r:embed="rId2"/>
          <a:stretch/>
        </p:blipFill>
        <p:spPr>
          <a:xfrm>
            <a:off x="7812360" y="187920"/>
            <a:ext cx="1079640" cy="245880"/>
          </a:xfrm>
          <a:prstGeom prst="rect">
            <a:avLst/>
          </a:prstGeom>
          <a:ln w="0">
            <a:noFill/>
          </a:ln>
        </p:spPr>
      </p:pic>
      <p:sp>
        <p:nvSpPr>
          <p:cNvPr id="135" name="Google Shape;130;p18"/>
          <p:cNvSpPr/>
          <p:nvPr/>
        </p:nvSpPr>
        <p:spPr>
          <a:xfrm>
            <a:off x="359640" y="464760"/>
            <a:ext cx="4571640" cy="449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" sz="2400" spc="-1" strike="noStrike">
                <a:solidFill>
                  <a:srgbClr val="000000"/>
                </a:solidFill>
                <a:latin typeface="Roboto Black"/>
                <a:ea typeface="Roboto Black"/>
              </a:rPr>
              <a:t>Сбор и хранение данных</a:t>
            </a:r>
            <a:endParaRPr b="0" lang="ru-RU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Arial"/>
                <a:ea typeface="Arial"/>
              </a:rPr>
              <a:t>При записи пользовательского видео использовался максимально схожий с эталоном ракурс камеры. Видео записывалось на смартфон, затем из двух видео были вырезаны фрагменты длительностью 15 секунд с синхронным начальным положением.</a:t>
            </a:r>
            <a:endParaRPr b="0" lang="ru-RU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1400" spc="-1" strike="noStrike">
                <a:solidFill>
                  <a:srgbClr val="000000"/>
                </a:solidFill>
                <a:latin typeface="Arial"/>
                <a:ea typeface="Arial"/>
              </a:rPr>
              <a:t>Обработка</a:t>
            </a:r>
            <a:r>
              <a:rPr b="0" lang="ru-RU" sz="1400" spc="-1" strike="noStrike">
                <a:solidFill>
                  <a:srgbClr val="000000"/>
                </a:solidFill>
                <a:latin typeface="Arial"/>
                <a:ea typeface="Arial"/>
              </a:rPr>
              <a:t>:</a:t>
            </a:r>
            <a:endParaRPr b="0" lang="ru-RU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Arial"/>
                <a:ea typeface="Arial"/>
              </a:rPr>
              <a:t>На каждом кадре с помощью Keypoint R-CNN определяются ключевые точки человека. Для синхронизации кадров двух видео используется линейная интерполяци.</a:t>
            </a:r>
            <a:endParaRPr b="0" lang="ru-RU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1400" spc="-1" strike="noStrike">
                <a:solidFill>
                  <a:srgbClr val="000000"/>
                </a:solidFill>
                <a:latin typeface="Arial"/>
                <a:ea typeface="Arial"/>
              </a:rPr>
              <a:t>Хранение</a:t>
            </a:r>
            <a:r>
              <a:rPr b="0" lang="ru-RU" sz="1400" spc="-1" strike="noStrike">
                <a:solidFill>
                  <a:srgbClr val="000000"/>
                </a:solidFill>
                <a:latin typeface="Arial"/>
                <a:ea typeface="Arial"/>
              </a:rPr>
              <a:t>:</a:t>
            </a:r>
            <a:endParaRPr b="0" lang="ru-RU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Arial"/>
                <a:ea typeface="Arial"/>
              </a:rPr>
              <a:t>В директории </a:t>
            </a:r>
            <a:r>
              <a:rPr b="0" i="1" lang="ru-RU" sz="1400" spc="-1" strike="noStrike">
                <a:solidFill>
                  <a:srgbClr val="000000"/>
                </a:solidFill>
                <a:latin typeface="Arial"/>
                <a:ea typeface="Arial"/>
              </a:rPr>
              <a:t>data</a:t>
            </a:r>
            <a:r>
              <a:rPr b="0" lang="ru-RU" sz="1400" spc="-1" strike="noStrike">
                <a:solidFill>
                  <a:srgbClr val="000000"/>
                </a:solidFill>
                <a:latin typeface="Arial"/>
                <a:ea typeface="Arial"/>
              </a:rPr>
              <a:t> - исходные данные </a:t>
            </a:r>
            <a:r>
              <a:rPr b="0" i="1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ref.mp4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 </a:t>
            </a:r>
            <a:r>
              <a:rPr b="0" lang="ru-RU" sz="1400" spc="-1" strike="noStrike">
                <a:solidFill>
                  <a:srgbClr val="000000"/>
                </a:solidFill>
                <a:latin typeface="Arial"/>
                <a:ea typeface="Arial"/>
              </a:rPr>
              <a:t>и </a:t>
            </a:r>
            <a:r>
              <a:rPr b="0" i="1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user.mp4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, </a:t>
            </a:r>
            <a:r>
              <a:rPr b="0" lang="ru-RU" sz="1400" spc="-1" strike="noStrike">
                <a:solidFill>
                  <a:srgbClr val="000000"/>
                </a:solidFill>
                <a:latin typeface="Arial"/>
                <a:ea typeface="Arial"/>
              </a:rPr>
              <a:t>в директории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output - </a:t>
            </a:r>
            <a:r>
              <a:rPr b="0" lang="ru-RU" sz="1400" spc="-1" strike="noStrike">
                <a:solidFill>
                  <a:srgbClr val="000000"/>
                </a:solidFill>
                <a:latin typeface="Arial"/>
                <a:ea typeface="Arial"/>
              </a:rPr>
              <a:t>результирующее видео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 </a:t>
            </a:r>
            <a:r>
              <a:rPr b="0" i="1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result.mp4 </a:t>
            </a:r>
            <a:r>
              <a:rPr b="0" lang="ru-RU" sz="1400" spc="-1" strike="noStrike">
                <a:solidFill>
                  <a:srgbClr val="000000"/>
                </a:solidFill>
                <a:latin typeface="Arial"/>
                <a:ea typeface="Arial"/>
              </a:rPr>
              <a:t>и метрики качества </a:t>
            </a:r>
            <a:r>
              <a:rPr b="0" i="1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metrics.png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136" name="Google Shape;131;p18"/>
          <p:cNvSpPr/>
          <p:nvPr/>
        </p:nvSpPr>
        <p:spPr>
          <a:xfrm>
            <a:off x="395640" y="3166920"/>
            <a:ext cx="1800000" cy="78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7" name="Google Shape;132;p18"/>
          <p:cNvSpPr/>
          <p:nvPr/>
        </p:nvSpPr>
        <p:spPr>
          <a:xfrm>
            <a:off x="413280" y="2643840"/>
            <a:ext cx="223200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8" name="Google Shape;133;p18"/>
          <p:cNvSpPr/>
          <p:nvPr/>
        </p:nvSpPr>
        <p:spPr>
          <a:xfrm>
            <a:off x="395640" y="1396440"/>
            <a:ext cx="3548160" cy="28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139" name="Google Shape;134;p18" descr=""/>
          <p:cNvPicPr/>
          <p:nvPr/>
        </p:nvPicPr>
        <p:blipFill>
          <a:blip r:embed="rId3"/>
          <a:stretch/>
        </p:blipFill>
        <p:spPr>
          <a:xfrm>
            <a:off x="-1476720" y="474840"/>
            <a:ext cx="2926440" cy="8280"/>
          </a:xfrm>
          <a:prstGeom prst="rect">
            <a:avLst/>
          </a:prstGeom>
          <a:ln w="0">
            <a:noFill/>
          </a:ln>
        </p:spPr>
      </p:pic>
      <p:sp>
        <p:nvSpPr>
          <p:cNvPr id="140" name="Google Shape;135;p18"/>
          <p:cNvSpPr/>
          <p:nvPr/>
        </p:nvSpPr>
        <p:spPr>
          <a:xfrm>
            <a:off x="2483640" y="3363840"/>
            <a:ext cx="1872000" cy="50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41" name="Google Shape;136;p18"/>
          <p:cNvSpPr/>
          <p:nvPr/>
        </p:nvSpPr>
        <p:spPr>
          <a:xfrm>
            <a:off x="2501640" y="2643840"/>
            <a:ext cx="1926000" cy="73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42" name="Google Shape;137;p18"/>
          <p:cNvSpPr/>
          <p:nvPr/>
        </p:nvSpPr>
        <p:spPr>
          <a:xfrm>
            <a:off x="4644000" y="3363840"/>
            <a:ext cx="1872000" cy="78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43" name="Google Shape;138;p18"/>
          <p:cNvSpPr/>
          <p:nvPr/>
        </p:nvSpPr>
        <p:spPr>
          <a:xfrm>
            <a:off x="4662000" y="2643840"/>
            <a:ext cx="2142000" cy="73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44" name="Google Shape;139;p18"/>
          <p:cNvSpPr/>
          <p:nvPr/>
        </p:nvSpPr>
        <p:spPr>
          <a:xfrm>
            <a:off x="6804360" y="3166920"/>
            <a:ext cx="1912680" cy="92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45" name="Google Shape;140;p18"/>
          <p:cNvSpPr/>
          <p:nvPr/>
        </p:nvSpPr>
        <p:spPr>
          <a:xfrm>
            <a:off x="6822000" y="2643840"/>
            <a:ext cx="223200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46" name="Google Shape;141;p18"/>
          <p:cNvSpPr/>
          <p:nvPr/>
        </p:nvSpPr>
        <p:spPr>
          <a:xfrm>
            <a:off x="205200" y="196200"/>
            <a:ext cx="3514320" cy="21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" sz="800" spc="-1" strike="noStrike">
                <a:solidFill>
                  <a:srgbClr val="000000"/>
                </a:solidFill>
                <a:latin typeface="Roboto"/>
                <a:ea typeface="Roboto"/>
              </a:rPr>
              <a:t>Специализация «Data Science, Computer Vision»</a:t>
            </a:r>
            <a:endParaRPr b="0" lang="ru-RU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7" name="Google Shape;146;p19" descr=""/>
          <p:cNvPicPr/>
          <p:nvPr/>
        </p:nvPicPr>
        <p:blipFill>
          <a:blip r:embed="rId1"/>
          <a:stretch/>
        </p:blipFill>
        <p:spPr>
          <a:xfrm>
            <a:off x="-7920" y="0"/>
            <a:ext cx="9143640" cy="5143320"/>
          </a:xfrm>
          <a:prstGeom prst="rect">
            <a:avLst/>
          </a:prstGeom>
          <a:ln w="0">
            <a:noFill/>
          </a:ln>
        </p:spPr>
      </p:pic>
      <p:pic>
        <p:nvPicPr>
          <p:cNvPr id="148" name="Google Shape;147;p19" descr=""/>
          <p:cNvPicPr/>
          <p:nvPr/>
        </p:nvPicPr>
        <p:blipFill>
          <a:blip r:embed="rId2"/>
          <a:stretch/>
        </p:blipFill>
        <p:spPr>
          <a:xfrm>
            <a:off x="7812360" y="187920"/>
            <a:ext cx="1079640" cy="245880"/>
          </a:xfrm>
          <a:prstGeom prst="rect">
            <a:avLst/>
          </a:prstGeom>
          <a:ln w="0">
            <a:noFill/>
          </a:ln>
        </p:spPr>
      </p:pic>
      <p:pic>
        <p:nvPicPr>
          <p:cNvPr id="149" name="Google Shape;148;p19" descr=""/>
          <p:cNvPicPr/>
          <p:nvPr/>
        </p:nvPicPr>
        <p:blipFill>
          <a:blip r:embed="rId3"/>
          <a:stretch/>
        </p:blipFill>
        <p:spPr>
          <a:xfrm>
            <a:off x="-803160" y="474840"/>
            <a:ext cx="2926440" cy="8280"/>
          </a:xfrm>
          <a:prstGeom prst="rect">
            <a:avLst/>
          </a:prstGeom>
          <a:ln w="0">
            <a:noFill/>
          </a:ln>
        </p:spPr>
      </p:pic>
      <p:sp>
        <p:nvSpPr>
          <p:cNvPr id="150" name="Google Shape;149;p19"/>
          <p:cNvSpPr/>
          <p:nvPr/>
        </p:nvSpPr>
        <p:spPr>
          <a:xfrm>
            <a:off x="286920" y="690120"/>
            <a:ext cx="553644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ru" sz="1800" spc="-1" strike="noStrike">
                <a:solidFill>
                  <a:srgbClr val="000000"/>
                </a:solidFill>
                <a:latin typeface="Roboto Black"/>
                <a:ea typeface="Roboto Black"/>
              </a:rPr>
              <a:t>Алгоритмы </a:t>
            </a:r>
            <a:r>
              <a:rPr b="0" lang="ru-RU" sz="1800" spc="-1" strike="noStrike">
                <a:solidFill>
                  <a:srgbClr val="000000"/>
                </a:solidFill>
                <a:latin typeface="Roboto Black"/>
                <a:ea typeface="Roboto Black"/>
              </a:rPr>
              <a:t>и методы </a:t>
            </a:r>
            <a:r>
              <a:rPr b="0" lang="ru" sz="1800" spc="-1" strike="noStrike">
                <a:solidFill>
                  <a:srgbClr val="000000"/>
                </a:solidFill>
                <a:latin typeface="Roboto Black"/>
                <a:ea typeface="Roboto Black"/>
              </a:rPr>
              <a:t>ИИ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151" name="Google Shape;150;p19"/>
          <p:cNvSpPr/>
          <p:nvPr/>
        </p:nvSpPr>
        <p:spPr>
          <a:xfrm>
            <a:off x="539640" y="1551960"/>
            <a:ext cx="3888000" cy="14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52" name="Google Shape;151;p19"/>
          <p:cNvSpPr/>
          <p:nvPr/>
        </p:nvSpPr>
        <p:spPr>
          <a:xfrm>
            <a:off x="526320" y="1244160"/>
            <a:ext cx="351432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53" name="Google Shape;152;p19"/>
          <p:cNvSpPr/>
          <p:nvPr/>
        </p:nvSpPr>
        <p:spPr>
          <a:xfrm>
            <a:off x="293760" y="1182600"/>
            <a:ext cx="3018600" cy="129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ru-RU" sz="1200" spc="-1" strike="noStrike">
                <a:solidFill>
                  <a:srgbClr val="000000"/>
                </a:solidFill>
                <a:latin typeface="Arial"/>
                <a:ea typeface="Arial"/>
              </a:rPr>
              <a:t>Keypoint R-CNN (из torchvision)</a:t>
            </a:r>
            <a:br/>
            <a:r>
              <a:rPr b="0" lang="ru-RU" sz="1200" spc="-1" strike="noStrike">
                <a:solidFill>
                  <a:srgbClr val="000000"/>
                </a:solidFill>
                <a:latin typeface="Arial"/>
                <a:ea typeface="Arial"/>
              </a:rPr>
              <a:t>Используется для извлечения </a:t>
            </a:r>
            <a:r>
              <a:rPr b="1" lang="ru-RU" sz="1200" spc="-1" strike="noStrike">
                <a:solidFill>
                  <a:srgbClr val="000000"/>
                </a:solidFill>
                <a:latin typeface="Arial"/>
                <a:ea typeface="Arial"/>
              </a:rPr>
              <a:t>ключевых точек (поз)</a:t>
            </a:r>
            <a:r>
              <a:rPr b="0" lang="ru-RU" sz="1200" spc="-1" strike="noStrike">
                <a:solidFill>
                  <a:srgbClr val="000000"/>
                </a:solidFill>
                <a:latin typeface="Arial"/>
                <a:ea typeface="Arial"/>
              </a:rPr>
              <a:t> человека на каждом кадре видео.</a:t>
            </a:r>
            <a:br/>
            <a:r>
              <a:rPr b="0" lang="ru-RU" sz="1200" spc="-1" strike="noStrike">
                <a:solidFill>
                  <a:srgbClr val="000000"/>
                </a:solidFill>
                <a:latin typeface="Arial"/>
                <a:ea typeface="Arial"/>
              </a:rPr>
              <a:t>Позволяет получить координаты 17 ключевых точек тела человека.</a:t>
            </a:r>
            <a:endParaRPr b="0" lang="ru-RU" sz="1200" spc="-1" strike="noStrike">
              <a:latin typeface="Arial"/>
            </a:endParaRPr>
          </a:p>
        </p:txBody>
      </p:sp>
      <p:sp>
        <p:nvSpPr>
          <p:cNvPr id="154" name="Google Shape;153;p19"/>
          <p:cNvSpPr/>
          <p:nvPr/>
        </p:nvSpPr>
        <p:spPr>
          <a:xfrm>
            <a:off x="4600440" y="1551960"/>
            <a:ext cx="4404600" cy="92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55" name="Google Shape;154;p19"/>
          <p:cNvSpPr/>
          <p:nvPr/>
        </p:nvSpPr>
        <p:spPr>
          <a:xfrm>
            <a:off x="4587480" y="1244160"/>
            <a:ext cx="351432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56" name="Google Shape;155;p19"/>
          <p:cNvSpPr/>
          <p:nvPr/>
        </p:nvSpPr>
        <p:spPr>
          <a:xfrm>
            <a:off x="293760" y="2562840"/>
            <a:ext cx="3513960" cy="123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ru-RU" sz="1200" spc="-1" strike="noStrike">
                <a:solidFill>
                  <a:srgbClr val="000000"/>
                </a:solidFill>
                <a:latin typeface="Arial"/>
                <a:ea typeface="Arial"/>
              </a:rPr>
              <a:t>Аффинное преобразование</a:t>
            </a:r>
            <a:br/>
            <a:r>
              <a:rPr b="0" lang="ru-RU" sz="1200" spc="-1" strike="noStrike">
                <a:solidFill>
                  <a:srgbClr val="000000"/>
                </a:solidFill>
                <a:latin typeface="Arial"/>
                <a:ea typeface="Arial"/>
              </a:rPr>
              <a:t>Применяется для приведения ключевых точек пользователя к системе координат эталона</a:t>
            </a:r>
            <a:br/>
            <a:r>
              <a:rPr b="0" lang="ru-RU" sz="1200" spc="-1" strike="noStrike">
                <a:solidFill>
                  <a:srgbClr val="000000"/>
                </a:solidFill>
                <a:latin typeface="Arial"/>
                <a:ea typeface="Arial"/>
              </a:rPr>
              <a:t>(учитывает масштаб, поворот, смещение).</a:t>
            </a:r>
            <a:endParaRPr b="0" lang="ru-RU" sz="1200" spc="-1" strike="noStrike">
              <a:latin typeface="Arial"/>
            </a:endParaRPr>
          </a:p>
        </p:txBody>
      </p:sp>
      <p:sp>
        <p:nvSpPr>
          <p:cNvPr id="157" name="Google Shape;156;p19"/>
          <p:cNvSpPr/>
          <p:nvPr/>
        </p:nvSpPr>
        <p:spPr>
          <a:xfrm>
            <a:off x="539640" y="3543840"/>
            <a:ext cx="3528000" cy="126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58" name="Google Shape;157;p19"/>
          <p:cNvSpPr/>
          <p:nvPr/>
        </p:nvSpPr>
        <p:spPr>
          <a:xfrm>
            <a:off x="526320" y="3065400"/>
            <a:ext cx="427680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59" name="Google Shape;158;p19"/>
          <p:cNvSpPr/>
          <p:nvPr/>
        </p:nvSpPr>
        <p:spPr>
          <a:xfrm>
            <a:off x="4428000" y="1244160"/>
            <a:ext cx="2953800" cy="99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ru-RU" sz="1200" spc="-1" strike="noStrike">
                <a:solidFill>
                  <a:srgbClr val="000000"/>
                </a:solidFill>
                <a:latin typeface="Arial"/>
                <a:ea typeface="Arial"/>
              </a:rPr>
              <a:t>Косинусное сходство поз</a:t>
            </a:r>
            <a:br/>
            <a:r>
              <a:rPr b="0" lang="ru-RU" sz="1200" spc="-1" strike="noStrike">
                <a:solidFill>
                  <a:srgbClr val="000000"/>
                </a:solidFill>
                <a:latin typeface="Arial"/>
                <a:ea typeface="Arial"/>
              </a:rPr>
              <a:t>Вычисляет, насколько совпадает форма и ориентация тела (насколько совпадают направления векторов координат всех ключевых точек).</a:t>
            </a:r>
            <a:endParaRPr b="0" lang="ru-RU" sz="1200" spc="-1" strike="noStrike">
              <a:latin typeface="Arial"/>
            </a:endParaRPr>
          </a:p>
        </p:txBody>
      </p:sp>
      <p:sp>
        <p:nvSpPr>
          <p:cNvPr id="160" name="Google Shape;159;p19"/>
          <p:cNvSpPr/>
          <p:nvPr/>
        </p:nvSpPr>
        <p:spPr>
          <a:xfrm>
            <a:off x="4816440" y="3579840"/>
            <a:ext cx="4075560" cy="71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1" name="Google Shape;160;p19"/>
          <p:cNvSpPr/>
          <p:nvPr/>
        </p:nvSpPr>
        <p:spPr>
          <a:xfrm>
            <a:off x="4803480" y="3065400"/>
            <a:ext cx="408852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2" name="Google Shape;161;p19"/>
          <p:cNvSpPr/>
          <p:nvPr/>
        </p:nvSpPr>
        <p:spPr>
          <a:xfrm>
            <a:off x="4464360" y="2561040"/>
            <a:ext cx="3398760" cy="156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ru-RU" sz="1200" spc="-1" strike="noStrike">
                <a:solidFill>
                  <a:srgbClr val="000000"/>
                </a:solidFill>
                <a:latin typeface="Arial"/>
                <a:ea typeface="Arial"/>
              </a:rPr>
              <a:t>Взвешенное расстояние</a:t>
            </a:r>
            <a:br/>
            <a:r>
              <a:rPr b="0" lang="ru-RU" sz="1200" spc="-1" strike="noStrike">
                <a:solidFill>
                  <a:srgbClr val="000000"/>
                </a:solidFill>
                <a:latin typeface="Arial"/>
                <a:ea typeface="Arial"/>
              </a:rPr>
              <a:t>Определяет, насколько далеко поза пользователя ушла от эталонной (среднее абсолютное отклонение координат ключевых точек в пикселях после выравнивания).</a:t>
            </a:r>
            <a:endParaRPr b="0" lang="ru-RU" sz="1200" spc="-1" strike="noStrike">
              <a:latin typeface="Arial"/>
            </a:endParaRPr>
          </a:p>
        </p:txBody>
      </p:sp>
      <p:sp>
        <p:nvSpPr>
          <p:cNvPr id="163" name="Google Shape;163;p19"/>
          <p:cNvSpPr/>
          <p:nvPr/>
        </p:nvSpPr>
        <p:spPr>
          <a:xfrm>
            <a:off x="-73080" y="3035880"/>
            <a:ext cx="46836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4" name="Google Shape;165;p19"/>
          <p:cNvSpPr/>
          <p:nvPr/>
        </p:nvSpPr>
        <p:spPr>
          <a:xfrm>
            <a:off x="205200" y="196200"/>
            <a:ext cx="3514320" cy="21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" sz="800" spc="-1" strike="noStrike">
                <a:solidFill>
                  <a:srgbClr val="000000"/>
                </a:solidFill>
                <a:latin typeface="Roboto"/>
                <a:ea typeface="Roboto"/>
              </a:rPr>
              <a:t>Специализация «Data Science, Computer Vision»</a:t>
            </a:r>
            <a:endParaRPr b="0" lang="ru-RU" sz="800" spc="-1" strike="noStrike">
              <a:latin typeface="Arial"/>
            </a:endParaRPr>
          </a:p>
        </p:txBody>
      </p:sp>
      <p:sp>
        <p:nvSpPr>
          <p:cNvPr id="165" name="Прямоугольник 1"/>
          <p:cNvSpPr/>
          <p:nvPr/>
        </p:nvSpPr>
        <p:spPr>
          <a:xfrm>
            <a:off x="323640" y="3712680"/>
            <a:ext cx="2953800" cy="10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ru-RU" sz="1200" spc="-1" strike="noStrike">
                <a:solidFill>
                  <a:srgbClr val="000000"/>
                </a:solidFill>
                <a:latin typeface="Arial"/>
                <a:ea typeface="Arial"/>
              </a:rPr>
              <a:t>Графическая визуализация результатов</a:t>
            </a:r>
            <a:br/>
            <a:r>
              <a:rPr b="0" lang="ru-RU" sz="1200" spc="-1" strike="noStrike">
                <a:solidFill>
                  <a:srgbClr val="000000"/>
                </a:solidFill>
                <a:latin typeface="Arial"/>
                <a:ea typeface="Arial"/>
              </a:rPr>
              <a:t>Наложение текущих значений метрик и ключевых точек тренера на каждый кадр пользовательского видео.</a:t>
            </a:r>
            <a:endParaRPr b="0" lang="ru-RU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70;p20" descr=""/>
          <p:cNvPicPr/>
          <p:nvPr/>
        </p:nvPicPr>
        <p:blipFill>
          <a:blip r:embed="rId1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ln w="0">
            <a:noFill/>
          </a:ln>
        </p:spPr>
      </p:pic>
      <p:pic>
        <p:nvPicPr>
          <p:cNvPr id="167" name="Google Shape;171;p20" descr=""/>
          <p:cNvPicPr/>
          <p:nvPr/>
        </p:nvPicPr>
        <p:blipFill>
          <a:blip r:embed="rId2"/>
          <a:stretch/>
        </p:blipFill>
        <p:spPr>
          <a:xfrm>
            <a:off x="7812360" y="187920"/>
            <a:ext cx="1079640" cy="245880"/>
          </a:xfrm>
          <a:prstGeom prst="rect">
            <a:avLst/>
          </a:prstGeom>
          <a:ln w="0">
            <a:noFill/>
          </a:ln>
        </p:spPr>
      </p:pic>
      <p:pic>
        <p:nvPicPr>
          <p:cNvPr id="168" name="Google Shape;172;p20" descr=""/>
          <p:cNvPicPr/>
          <p:nvPr/>
        </p:nvPicPr>
        <p:blipFill>
          <a:blip r:embed="rId3"/>
          <a:stretch/>
        </p:blipFill>
        <p:spPr>
          <a:xfrm>
            <a:off x="-1836720" y="474840"/>
            <a:ext cx="2926440" cy="8280"/>
          </a:xfrm>
          <a:prstGeom prst="rect">
            <a:avLst/>
          </a:prstGeom>
          <a:ln w="0">
            <a:noFill/>
          </a:ln>
        </p:spPr>
      </p:pic>
      <p:sp>
        <p:nvSpPr>
          <p:cNvPr id="169" name="Google Shape;173;p20"/>
          <p:cNvSpPr/>
          <p:nvPr/>
        </p:nvSpPr>
        <p:spPr>
          <a:xfrm>
            <a:off x="323640" y="555480"/>
            <a:ext cx="424836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" sz="1800" spc="-1" strike="noStrike">
                <a:solidFill>
                  <a:srgbClr val="000000"/>
                </a:solidFill>
                <a:latin typeface="Roboto Black"/>
                <a:ea typeface="Roboto Black"/>
              </a:rPr>
              <a:t>Технологический стек для проекта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170" name="Google Shape;174;p20"/>
          <p:cNvSpPr/>
          <p:nvPr/>
        </p:nvSpPr>
        <p:spPr>
          <a:xfrm>
            <a:off x="539640" y="1715040"/>
            <a:ext cx="2664000" cy="64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1" name="Google Shape;175;p20"/>
          <p:cNvSpPr/>
          <p:nvPr/>
        </p:nvSpPr>
        <p:spPr>
          <a:xfrm>
            <a:off x="526320" y="1244160"/>
            <a:ext cx="224532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2" name="Google Shape;176;p20"/>
          <p:cNvSpPr/>
          <p:nvPr/>
        </p:nvSpPr>
        <p:spPr>
          <a:xfrm>
            <a:off x="205200" y="1850400"/>
            <a:ext cx="2522160" cy="88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ru-RU" sz="900" spc="-1" strike="noStrike">
                <a:solidFill>
                  <a:srgbClr val="000000"/>
                </a:solidFill>
                <a:latin typeface="Arial"/>
                <a:ea typeface="Arial"/>
              </a:rPr>
              <a:t>💻 </a:t>
            </a:r>
            <a:r>
              <a:rPr b="1" lang="ru-RU" sz="900" spc="-1" strike="noStrike">
                <a:solidFill>
                  <a:srgbClr val="000000"/>
                </a:solidFill>
                <a:latin typeface="Arial"/>
                <a:ea typeface="Arial"/>
              </a:rPr>
              <a:t>Язык программирования:</a:t>
            </a:r>
            <a:endParaRPr b="0" lang="ru-RU" sz="9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ru-RU" sz="900" spc="-1" strike="noStrike">
                <a:solidFill>
                  <a:srgbClr val="000000"/>
                </a:solidFill>
                <a:latin typeface="Arial"/>
                <a:ea typeface="Arial"/>
              </a:rPr>
              <a:t>Python 3.11</a:t>
            </a:r>
            <a:r>
              <a:rPr b="0" lang="ru-RU" sz="900" spc="-1" strike="noStrike">
                <a:solidFill>
                  <a:srgbClr val="000000"/>
                </a:solidFill>
                <a:latin typeface="Arial"/>
                <a:ea typeface="Arial"/>
              </a:rPr>
              <a:t> — основной язык разработки и анализа данных.</a:t>
            </a:r>
            <a:endParaRPr b="0" lang="ru-RU" sz="9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900" spc="-1" strike="noStrike">
              <a:latin typeface="Arial"/>
            </a:endParaRPr>
          </a:p>
        </p:txBody>
      </p:sp>
      <p:sp>
        <p:nvSpPr>
          <p:cNvPr id="173" name="Google Shape;177;p20"/>
          <p:cNvSpPr/>
          <p:nvPr/>
        </p:nvSpPr>
        <p:spPr>
          <a:xfrm>
            <a:off x="3376440" y="1715040"/>
            <a:ext cx="2420640" cy="64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4" name="Google Shape;178;p20"/>
          <p:cNvSpPr/>
          <p:nvPr/>
        </p:nvSpPr>
        <p:spPr>
          <a:xfrm>
            <a:off x="3363120" y="1244160"/>
            <a:ext cx="228852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5" name="Google Shape;179;p20"/>
          <p:cNvSpPr/>
          <p:nvPr/>
        </p:nvSpPr>
        <p:spPr>
          <a:xfrm>
            <a:off x="4644000" y="1182600"/>
            <a:ext cx="2608560" cy="179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ru-RU" sz="900" spc="-1" strike="noStrike">
                <a:solidFill>
                  <a:srgbClr val="000000"/>
                </a:solidFill>
                <a:latin typeface="Arial"/>
                <a:ea typeface="Arial"/>
              </a:rPr>
              <a:t>📚 </a:t>
            </a:r>
            <a:r>
              <a:rPr b="1" lang="ru-RU" sz="900" spc="-1" strike="noStrike">
                <a:solidFill>
                  <a:srgbClr val="000000"/>
                </a:solidFill>
                <a:latin typeface="Arial"/>
                <a:ea typeface="Arial"/>
              </a:rPr>
              <a:t>Библиотеки и фреймворки:</a:t>
            </a:r>
            <a:endParaRPr b="0" lang="ru-RU" sz="9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900" spc="-1" strike="noStrike">
                <a:solidFill>
                  <a:srgbClr val="000000"/>
                </a:solidFill>
                <a:latin typeface="Arial"/>
                <a:ea typeface="Arial"/>
              </a:rPr>
              <a:t>PyTorch</a:t>
            </a:r>
            <a:r>
              <a:rPr b="0" lang="en-US" sz="900" spc="-1" strike="noStrike">
                <a:solidFill>
                  <a:srgbClr val="000000"/>
                </a:solidFill>
                <a:latin typeface="Arial"/>
                <a:ea typeface="Arial"/>
              </a:rPr>
              <a:t>, </a:t>
            </a:r>
            <a:r>
              <a:rPr b="1" lang="en-US" sz="900" spc="-1" strike="noStrike">
                <a:solidFill>
                  <a:srgbClr val="000000"/>
                </a:solidFill>
                <a:latin typeface="Arial"/>
                <a:ea typeface="Arial"/>
              </a:rPr>
              <a:t>Torchvision </a:t>
            </a:r>
            <a:r>
              <a:rPr b="1" lang="ru-RU" sz="900" spc="-1" strike="noStrike">
                <a:solidFill>
                  <a:srgbClr val="000000"/>
                </a:solidFill>
                <a:latin typeface="Arial"/>
                <a:ea typeface="Arial"/>
              </a:rPr>
              <a:t>с поддержкой </a:t>
            </a:r>
            <a:r>
              <a:rPr b="1" lang="en-US" sz="900" spc="-1" strike="noStrike">
                <a:solidFill>
                  <a:srgbClr val="000000"/>
                </a:solidFill>
                <a:latin typeface="Arial"/>
                <a:ea typeface="Arial"/>
              </a:rPr>
              <a:t>CUDA</a:t>
            </a:r>
            <a:r>
              <a:rPr b="0" lang="en-US" sz="900" spc="-1" strike="noStrike">
                <a:solidFill>
                  <a:srgbClr val="000000"/>
                </a:solidFill>
                <a:latin typeface="Arial"/>
                <a:ea typeface="Arial"/>
              </a:rPr>
              <a:t> — </a:t>
            </a:r>
            <a:r>
              <a:rPr b="0" lang="ru-RU" sz="900" spc="-1" strike="noStrike">
                <a:solidFill>
                  <a:srgbClr val="000000"/>
                </a:solidFill>
                <a:latin typeface="Arial"/>
                <a:ea typeface="Arial"/>
              </a:rPr>
              <a:t>загрузка и использование модели </a:t>
            </a:r>
            <a:r>
              <a:rPr b="0" lang="en-US" sz="900" spc="-1" strike="noStrike">
                <a:solidFill>
                  <a:srgbClr val="000000"/>
                </a:solidFill>
                <a:latin typeface="Arial"/>
                <a:ea typeface="Arial"/>
              </a:rPr>
              <a:t>Keypoint R-CNN;</a:t>
            </a:r>
            <a:endParaRPr b="0" lang="ru-RU" sz="9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900" spc="-1" strike="noStrike">
                <a:solidFill>
                  <a:srgbClr val="000000"/>
                </a:solidFill>
                <a:latin typeface="Arial"/>
                <a:ea typeface="Arial"/>
              </a:rPr>
              <a:t>OpenCV, PIL</a:t>
            </a:r>
            <a:r>
              <a:rPr b="0" lang="en-US" sz="900" spc="-1" strike="noStrike">
                <a:solidFill>
                  <a:srgbClr val="000000"/>
                </a:solidFill>
                <a:latin typeface="Arial"/>
                <a:ea typeface="Arial"/>
              </a:rPr>
              <a:t> — </a:t>
            </a:r>
            <a:r>
              <a:rPr b="0" lang="ru-RU" sz="900" spc="-1" strike="noStrike">
                <a:solidFill>
                  <a:srgbClr val="000000"/>
                </a:solidFill>
                <a:latin typeface="Arial"/>
                <a:ea typeface="Arial"/>
              </a:rPr>
              <a:t>извлечение кадров, работа с видео;</a:t>
            </a:r>
            <a:endParaRPr b="0" lang="ru-RU" sz="9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900" spc="-1" strike="noStrike">
                <a:solidFill>
                  <a:srgbClr val="000000"/>
                </a:solidFill>
                <a:latin typeface="Arial"/>
                <a:ea typeface="Arial"/>
              </a:rPr>
              <a:t>Matplotlib</a:t>
            </a:r>
            <a:r>
              <a:rPr b="0" lang="en-US" sz="900" spc="-1" strike="noStrike">
                <a:solidFill>
                  <a:srgbClr val="000000"/>
                </a:solidFill>
                <a:latin typeface="Arial"/>
                <a:ea typeface="Arial"/>
              </a:rPr>
              <a:t> — </a:t>
            </a:r>
            <a:r>
              <a:rPr b="0" lang="ru-RU" sz="900" spc="-1" strike="noStrike">
                <a:solidFill>
                  <a:srgbClr val="000000"/>
                </a:solidFill>
                <a:latin typeface="Arial"/>
                <a:ea typeface="Arial"/>
              </a:rPr>
              <a:t>визуализация результатов и графиков;</a:t>
            </a:r>
            <a:endParaRPr b="0" lang="ru-RU" sz="9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900" spc="-1" strike="noStrike">
                <a:solidFill>
                  <a:srgbClr val="000000"/>
                </a:solidFill>
                <a:latin typeface="Arial"/>
                <a:ea typeface="Arial"/>
              </a:rPr>
              <a:t>NumPy</a:t>
            </a:r>
            <a:r>
              <a:rPr b="0" lang="en-US" sz="900" spc="-1" strike="noStrike">
                <a:solidFill>
                  <a:srgbClr val="000000"/>
                </a:solidFill>
                <a:latin typeface="Arial"/>
                <a:ea typeface="Arial"/>
              </a:rPr>
              <a:t> — </a:t>
            </a:r>
            <a:r>
              <a:rPr b="0" lang="ru-RU" sz="900" spc="-1" strike="noStrike">
                <a:solidFill>
                  <a:srgbClr val="000000"/>
                </a:solidFill>
                <a:latin typeface="Arial"/>
                <a:ea typeface="Arial"/>
              </a:rPr>
              <a:t>векторные и матричные вычисления.</a:t>
            </a:r>
            <a:endParaRPr b="0" lang="ru-RU" sz="9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900" spc="-1" strike="noStrike">
              <a:latin typeface="Arial"/>
            </a:endParaRPr>
          </a:p>
        </p:txBody>
      </p:sp>
      <p:sp>
        <p:nvSpPr>
          <p:cNvPr id="176" name="Google Shape;180;p20"/>
          <p:cNvSpPr/>
          <p:nvPr/>
        </p:nvSpPr>
        <p:spPr>
          <a:xfrm>
            <a:off x="4570920" y="3024000"/>
            <a:ext cx="18432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7" name="Google Shape;181;p20"/>
          <p:cNvSpPr/>
          <p:nvPr/>
        </p:nvSpPr>
        <p:spPr>
          <a:xfrm>
            <a:off x="2483640" y="1198080"/>
            <a:ext cx="89208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8" name="Google Shape;183;p20"/>
          <p:cNvSpPr/>
          <p:nvPr/>
        </p:nvSpPr>
        <p:spPr>
          <a:xfrm>
            <a:off x="8215920" y="1203480"/>
            <a:ext cx="161244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9" name="Google Shape;186;p20"/>
          <p:cNvSpPr/>
          <p:nvPr/>
        </p:nvSpPr>
        <p:spPr>
          <a:xfrm>
            <a:off x="5436000" y="1203480"/>
            <a:ext cx="50364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0" name="Google Shape;188;p20"/>
          <p:cNvSpPr/>
          <p:nvPr/>
        </p:nvSpPr>
        <p:spPr>
          <a:xfrm>
            <a:off x="6112800" y="1722960"/>
            <a:ext cx="2419560" cy="64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1" name="Google Shape;189;p20"/>
          <p:cNvSpPr/>
          <p:nvPr/>
        </p:nvSpPr>
        <p:spPr>
          <a:xfrm>
            <a:off x="6099480" y="1252080"/>
            <a:ext cx="228852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2" name="Google Shape;190;p20"/>
          <p:cNvSpPr/>
          <p:nvPr/>
        </p:nvSpPr>
        <p:spPr>
          <a:xfrm>
            <a:off x="5866920" y="1190520"/>
            <a:ext cx="31752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3" name="Google Shape;191;p20"/>
          <p:cNvSpPr/>
          <p:nvPr/>
        </p:nvSpPr>
        <p:spPr>
          <a:xfrm>
            <a:off x="526320" y="2831400"/>
            <a:ext cx="2664000" cy="64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4" name="Google Shape;192;p20"/>
          <p:cNvSpPr/>
          <p:nvPr/>
        </p:nvSpPr>
        <p:spPr>
          <a:xfrm>
            <a:off x="526320" y="2526840"/>
            <a:ext cx="224532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5" name="Google Shape;193;p20"/>
          <p:cNvSpPr/>
          <p:nvPr/>
        </p:nvSpPr>
        <p:spPr>
          <a:xfrm>
            <a:off x="205200" y="1173600"/>
            <a:ext cx="1965960" cy="47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ru-RU" sz="1000" spc="-1" strike="noStrike">
                <a:solidFill>
                  <a:srgbClr val="000000"/>
                </a:solidFill>
                <a:latin typeface="Arial"/>
                <a:ea typeface="Arial"/>
              </a:rPr>
              <a:t>🧪 </a:t>
            </a:r>
            <a:r>
              <a:rPr b="1" lang="ru-RU" sz="1000" spc="-1" strike="noStrike">
                <a:solidFill>
                  <a:srgbClr val="000000"/>
                </a:solidFill>
                <a:latin typeface="Arial"/>
                <a:ea typeface="Arial"/>
              </a:rPr>
              <a:t>Среда разработки:</a:t>
            </a:r>
            <a:endParaRPr b="0" lang="ru-RU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ru-RU" sz="1000" spc="-1" strike="noStrike">
                <a:solidFill>
                  <a:srgbClr val="000000"/>
                </a:solidFill>
                <a:latin typeface="Arial"/>
                <a:ea typeface="Arial"/>
              </a:rPr>
              <a:t>Visual Studio </a:t>
            </a:r>
            <a:r>
              <a:rPr b="1" lang="en-US" sz="1000" spc="-1" strike="noStrike">
                <a:solidFill>
                  <a:srgbClr val="000000"/>
                </a:solidFill>
                <a:latin typeface="Arial"/>
                <a:ea typeface="Arial"/>
              </a:rPr>
              <a:t>Code</a:t>
            </a:r>
            <a:endParaRPr b="0" lang="ru-RU" sz="1000" spc="-1" strike="noStrike">
              <a:latin typeface="Arial"/>
            </a:endParaRPr>
          </a:p>
        </p:txBody>
      </p:sp>
      <p:sp>
        <p:nvSpPr>
          <p:cNvPr id="186" name="Google Shape;194;p20"/>
          <p:cNvSpPr/>
          <p:nvPr/>
        </p:nvSpPr>
        <p:spPr>
          <a:xfrm>
            <a:off x="3376440" y="2997720"/>
            <a:ext cx="2420640" cy="78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7" name="Google Shape;195;p20"/>
          <p:cNvSpPr/>
          <p:nvPr/>
        </p:nvSpPr>
        <p:spPr>
          <a:xfrm>
            <a:off x="3363120" y="2526840"/>
            <a:ext cx="228852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8" name="Google Shape;196;p20"/>
          <p:cNvSpPr/>
          <p:nvPr/>
        </p:nvSpPr>
        <p:spPr>
          <a:xfrm>
            <a:off x="4658040" y="2976120"/>
            <a:ext cx="2305080" cy="102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ru-RU" sz="1000" spc="-1" strike="noStrike">
                <a:solidFill>
                  <a:srgbClr val="000000"/>
                </a:solidFill>
                <a:latin typeface="Arial"/>
                <a:ea typeface="Arial"/>
              </a:rPr>
              <a:t>⚙️ </a:t>
            </a:r>
            <a:r>
              <a:rPr b="1" lang="ru-RU" sz="1000" spc="-1" strike="noStrike">
                <a:solidFill>
                  <a:srgbClr val="000000"/>
                </a:solidFill>
                <a:latin typeface="Arial"/>
                <a:ea typeface="Arial"/>
              </a:rPr>
              <a:t>Инструменты:</a:t>
            </a:r>
            <a:endParaRPr b="0" lang="ru-RU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ru-RU" sz="1000" spc="-1" strike="noStrike">
                <a:solidFill>
                  <a:srgbClr val="000000"/>
                </a:solidFill>
                <a:latin typeface="Arial"/>
                <a:ea typeface="Arial"/>
              </a:rPr>
              <a:t>Git</a:t>
            </a:r>
            <a:r>
              <a:rPr b="0" lang="ru-RU" sz="1000" spc="-1" strike="noStrike">
                <a:solidFill>
                  <a:srgbClr val="000000"/>
                </a:solidFill>
                <a:latin typeface="Arial"/>
                <a:ea typeface="Arial"/>
              </a:rPr>
              <a:t> — контроль версий;</a:t>
            </a:r>
            <a:endParaRPr b="0" lang="ru-RU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ru-RU" sz="1000" spc="-1" strike="noStrike">
                <a:solidFill>
                  <a:srgbClr val="000000"/>
                </a:solidFill>
                <a:latin typeface="Arial"/>
                <a:ea typeface="Arial"/>
              </a:rPr>
              <a:t>PowerShell / Терминал</a:t>
            </a:r>
            <a:r>
              <a:rPr b="0" lang="ru-RU" sz="1000" spc="-1" strike="noStrike">
                <a:solidFill>
                  <a:srgbClr val="000000"/>
                </a:solidFill>
                <a:latin typeface="Arial"/>
                <a:ea typeface="Arial"/>
              </a:rPr>
              <a:t> — выполнение скриптов.</a:t>
            </a:r>
            <a:endParaRPr b="0" lang="ru-RU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000" spc="-1" strike="noStrike">
              <a:latin typeface="Arial"/>
            </a:endParaRPr>
          </a:p>
        </p:txBody>
      </p:sp>
      <p:sp>
        <p:nvSpPr>
          <p:cNvPr id="189" name="Google Shape;202;p20"/>
          <p:cNvSpPr/>
          <p:nvPr/>
        </p:nvSpPr>
        <p:spPr>
          <a:xfrm>
            <a:off x="6112800" y="3005640"/>
            <a:ext cx="2635560" cy="78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800" spc="-1" strike="noStrike">
              <a:latin typeface="Arial"/>
            </a:endParaRPr>
          </a:p>
        </p:txBody>
      </p:sp>
      <p:sp>
        <p:nvSpPr>
          <p:cNvPr id="190" name="Google Shape;203;p20"/>
          <p:cNvSpPr/>
          <p:nvPr/>
        </p:nvSpPr>
        <p:spPr>
          <a:xfrm>
            <a:off x="6099480" y="2534760"/>
            <a:ext cx="228852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1" name="Google Shape;205;p20"/>
          <p:cNvSpPr/>
          <p:nvPr/>
        </p:nvSpPr>
        <p:spPr>
          <a:xfrm>
            <a:off x="4570920" y="4269960"/>
            <a:ext cx="18432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2" name="Google Shape;208;p20"/>
          <p:cNvSpPr/>
          <p:nvPr/>
        </p:nvSpPr>
        <p:spPr>
          <a:xfrm>
            <a:off x="507960" y="4281120"/>
            <a:ext cx="2664000" cy="64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3" name="Google Shape;209;p20"/>
          <p:cNvSpPr/>
          <p:nvPr/>
        </p:nvSpPr>
        <p:spPr>
          <a:xfrm>
            <a:off x="526320" y="3773160"/>
            <a:ext cx="224532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4" name="Google Shape;211;p20"/>
          <p:cNvSpPr/>
          <p:nvPr/>
        </p:nvSpPr>
        <p:spPr>
          <a:xfrm>
            <a:off x="3376440" y="4269960"/>
            <a:ext cx="2673720" cy="64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5" name="Google Shape;212;p20"/>
          <p:cNvSpPr/>
          <p:nvPr/>
        </p:nvSpPr>
        <p:spPr>
          <a:xfrm>
            <a:off x="3363120" y="3773160"/>
            <a:ext cx="228852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6" name="Google Shape;218;p20"/>
          <p:cNvSpPr/>
          <p:nvPr/>
        </p:nvSpPr>
        <p:spPr>
          <a:xfrm>
            <a:off x="6194880" y="4042440"/>
            <a:ext cx="2635560" cy="64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7" name="Google Shape;219;p20"/>
          <p:cNvSpPr/>
          <p:nvPr/>
        </p:nvSpPr>
        <p:spPr>
          <a:xfrm>
            <a:off x="6194880" y="3758040"/>
            <a:ext cx="298512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8" name="Google Shape;221;p20"/>
          <p:cNvSpPr/>
          <p:nvPr/>
        </p:nvSpPr>
        <p:spPr>
          <a:xfrm>
            <a:off x="205200" y="196200"/>
            <a:ext cx="3514320" cy="21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" sz="800" spc="-1" strike="noStrike">
                <a:solidFill>
                  <a:srgbClr val="000000"/>
                </a:solidFill>
                <a:latin typeface="Roboto"/>
                <a:ea typeface="Roboto"/>
              </a:rPr>
              <a:t>Специализация «Data Science, Computer Vision»</a:t>
            </a:r>
            <a:endParaRPr b="0" lang="ru-RU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9" name="Google Shape;226;p21" descr=""/>
          <p:cNvPicPr/>
          <p:nvPr/>
        </p:nvPicPr>
        <p:blipFill>
          <a:blip r:embed="rId1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ln w="0">
            <a:noFill/>
          </a:ln>
        </p:spPr>
      </p:pic>
      <p:pic>
        <p:nvPicPr>
          <p:cNvPr id="200" name="Google Shape;227;p21" descr=""/>
          <p:cNvPicPr/>
          <p:nvPr/>
        </p:nvPicPr>
        <p:blipFill>
          <a:blip r:embed="rId2"/>
          <a:stretch/>
        </p:blipFill>
        <p:spPr>
          <a:xfrm>
            <a:off x="-1260720" y="474840"/>
            <a:ext cx="2926440" cy="8280"/>
          </a:xfrm>
          <a:prstGeom prst="rect">
            <a:avLst/>
          </a:prstGeom>
          <a:ln w="0">
            <a:noFill/>
          </a:ln>
        </p:spPr>
      </p:pic>
      <p:pic>
        <p:nvPicPr>
          <p:cNvPr id="201" name="Google Shape;228;p21" descr=""/>
          <p:cNvPicPr/>
          <p:nvPr/>
        </p:nvPicPr>
        <p:blipFill>
          <a:blip r:embed="rId3"/>
          <a:stretch/>
        </p:blipFill>
        <p:spPr>
          <a:xfrm>
            <a:off x="7821000" y="195480"/>
            <a:ext cx="1062360" cy="247680"/>
          </a:xfrm>
          <a:prstGeom prst="rect">
            <a:avLst/>
          </a:prstGeom>
          <a:ln w="0">
            <a:noFill/>
          </a:ln>
        </p:spPr>
      </p:pic>
      <p:sp>
        <p:nvSpPr>
          <p:cNvPr id="202" name="Google Shape;229;p21"/>
          <p:cNvSpPr/>
          <p:nvPr/>
        </p:nvSpPr>
        <p:spPr>
          <a:xfrm>
            <a:off x="611640" y="1131480"/>
            <a:ext cx="4571640" cy="83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" sz="2400" spc="-1" strike="noStrike">
                <a:solidFill>
                  <a:srgbClr val="ffffff"/>
                </a:solidFill>
                <a:latin typeface="Roboto Black"/>
                <a:ea typeface="Roboto Black"/>
              </a:rPr>
              <a:t>Метрики успешности</a:t>
            </a:r>
            <a:endParaRPr b="0" lang="ru-RU" sz="2400" spc="-1" strike="noStrike">
              <a:latin typeface="Arial"/>
            </a:endParaRPr>
          </a:p>
        </p:txBody>
      </p:sp>
      <p:sp>
        <p:nvSpPr>
          <p:cNvPr id="203" name="Google Shape;230;p21"/>
          <p:cNvSpPr/>
          <p:nvPr/>
        </p:nvSpPr>
        <p:spPr>
          <a:xfrm>
            <a:off x="611640" y="1995840"/>
            <a:ext cx="223200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04" name="Google Shape;231;p21"/>
          <p:cNvSpPr/>
          <p:nvPr/>
        </p:nvSpPr>
        <p:spPr>
          <a:xfrm>
            <a:off x="683640" y="2624760"/>
            <a:ext cx="172800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05" name="Google Shape;232;p21"/>
          <p:cNvSpPr/>
          <p:nvPr/>
        </p:nvSpPr>
        <p:spPr>
          <a:xfrm>
            <a:off x="3780000" y="2624760"/>
            <a:ext cx="172800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06" name="Google Shape;233;p21"/>
          <p:cNvSpPr/>
          <p:nvPr/>
        </p:nvSpPr>
        <p:spPr>
          <a:xfrm>
            <a:off x="6732360" y="2624760"/>
            <a:ext cx="172800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07" name="Google Shape;234;p21"/>
          <p:cNvSpPr/>
          <p:nvPr/>
        </p:nvSpPr>
        <p:spPr>
          <a:xfrm>
            <a:off x="3804480" y="3890520"/>
            <a:ext cx="172800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08" name="Google Shape;235;p21"/>
          <p:cNvSpPr/>
          <p:nvPr/>
        </p:nvSpPr>
        <p:spPr>
          <a:xfrm>
            <a:off x="6732360" y="3863160"/>
            <a:ext cx="172800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09" name="Google Shape;236;p21"/>
          <p:cNvSpPr/>
          <p:nvPr/>
        </p:nvSpPr>
        <p:spPr>
          <a:xfrm>
            <a:off x="755640" y="2427840"/>
            <a:ext cx="143640" cy="143640"/>
          </a:xfrm>
          <a:prstGeom prst="ellipse">
            <a:avLst/>
          </a:prstGeom>
          <a:solidFill>
            <a:srgbClr val="00b05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0" name="Google Shape;237;p21"/>
          <p:cNvSpPr/>
          <p:nvPr/>
        </p:nvSpPr>
        <p:spPr>
          <a:xfrm>
            <a:off x="3852000" y="2427840"/>
            <a:ext cx="143640" cy="143640"/>
          </a:xfrm>
          <a:prstGeom prst="ellipse">
            <a:avLst/>
          </a:prstGeom>
          <a:solidFill>
            <a:srgbClr val="00b05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1" name="Google Shape;238;p21"/>
          <p:cNvSpPr/>
          <p:nvPr/>
        </p:nvSpPr>
        <p:spPr>
          <a:xfrm>
            <a:off x="6804360" y="2427840"/>
            <a:ext cx="143640" cy="143640"/>
          </a:xfrm>
          <a:prstGeom prst="ellipse">
            <a:avLst/>
          </a:prstGeom>
          <a:solidFill>
            <a:srgbClr val="00b05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2" name="Google Shape;239;p21"/>
          <p:cNvSpPr/>
          <p:nvPr/>
        </p:nvSpPr>
        <p:spPr>
          <a:xfrm>
            <a:off x="3852000" y="3665880"/>
            <a:ext cx="143640" cy="143640"/>
          </a:xfrm>
          <a:prstGeom prst="ellipse">
            <a:avLst/>
          </a:prstGeom>
          <a:solidFill>
            <a:srgbClr val="00b05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3" name="Google Shape;240;p21"/>
          <p:cNvSpPr/>
          <p:nvPr/>
        </p:nvSpPr>
        <p:spPr>
          <a:xfrm>
            <a:off x="6807960" y="3665880"/>
            <a:ext cx="143640" cy="143640"/>
          </a:xfrm>
          <a:prstGeom prst="ellipse">
            <a:avLst/>
          </a:prstGeom>
          <a:solidFill>
            <a:srgbClr val="00b05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4" name="Google Shape;241;p21"/>
          <p:cNvSpPr/>
          <p:nvPr/>
        </p:nvSpPr>
        <p:spPr>
          <a:xfrm>
            <a:off x="683640" y="3863160"/>
            <a:ext cx="172800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5" name="Google Shape;242;p21"/>
          <p:cNvSpPr/>
          <p:nvPr/>
        </p:nvSpPr>
        <p:spPr>
          <a:xfrm>
            <a:off x="755640" y="3666240"/>
            <a:ext cx="143640" cy="143640"/>
          </a:xfrm>
          <a:prstGeom prst="ellipse">
            <a:avLst/>
          </a:prstGeom>
          <a:solidFill>
            <a:srgbClr val="00b05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6" name="Google Shape;243;p21"/>
          <p:cNvSpPr/>
          <p:nvPr/>
        </p:nvSpPr>
        <p:spPr>
          <a:xfrm>
            <a:off x="205200" y="196200"/>
            <a:ext cx="3514320" cy="21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" sz="800" spc="-1" strike="noStrike">
                <a:solidFill>
                  <a:srgbClr val="ffffff"/>
                </a:solidFill>
                <a:latin typeface="Roboto"/>
                <a:ea typeface="Roboto"/>
              </a:rPr>
              <a:t>Специализация «Data Science, Computer Vision»</a:t>
            </a:r>
            <a:endParaRPr b="0" lang="ru-RU" sz="800" spc="-1" strike="noStrike">
              <a:latin typeface="Arial"/>
            </a:endParaRPr>
          </a:p>
        </p:txBody>
      </p:sp>
      <p:graphicFrame>
        <p:nvGraphicFramePr>
          <p:cNvPr id="217" name="Таблица 3"/>
          <p:cNvGraphicFramePr/>
          <p:nvPr/>
        </p:nvGraphicFramePr>
        <p:xfrm>
          <a:off x="5364360" y="1044720"/>
          <a:ext cx="3656160" cy="2214360"/>
        </p:xfrm>
        <a:graphic>
          <a:graphicData uri="http://schemas.openxmlformats.org/drawingml/2006/table">
            <a:tbl>
              <a:tblPr/>
              <a:tblGrid>
                <a:gridCol w="1828080"/>
                <a:gridCol w="1828080"/>
              </a:tblGrid>
              <a:tr h="51084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ru-RU" sz="1200" spc="-1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</a:rPr>
                        <a:t>Метрика</a:t>
                      </a:r>
                      <a:endParaRPr b="0" lang="ru-RU" sz="1200" spc="-1" strike="noStrike">
                        <a:latin typeface="Arial"/>
                      </a:endParaRPr>
                    </a:p>
                  </a:txBody>
                  <a:tcPr anchor="ctr" marL="91440" marR="91440"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ru-RU" sz="1200" spc="-1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</a:rPr>
                        <a:t>Значение</a:t>
                      </a:r>
                      <a:endParaRPr b="0" lang="ru-RU" sz="1200" spc="-1" strike="noStrike">
                        <a:latin typeface="Arial"/>
                      </a:endParaRPr>
                    </a:p>
                  </a:txBody>
                  <a:tcPr anchor="ctr" marL="91440" marR="91440">
                    <a:noFill/>
                  </a:tcPr>
                </a:tc>
              </a:tr>
              <a:tr h="85176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ru-RU" sz="1200" spc="-1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</a:rPr>
                        <a:t>Косинусное сходство</a:t>
                      </a:r>
                      <a:endParaRPr b="0" lang="ru-RU" sz="1200" spc="-1" strike="noStrike">
                        <a:latin typeface="Arial"/>
                      </a:endParaRPr>
                    </a:p>
                  </a:txBody>
                  <a:tcPr anchor="ctr" marL="91440" marR="91440"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ru-RU" sz="1200" spc="-1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</a:rPr>
                        <a:t>0.99</a:t>
                      </a:r>
                      <a:r>
                        <a:rPr b="1" lang="en-US" sz="1200" spc="-1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</a:rPr>
                        <a:t>82</a:t>
                      </a:r>
                      <a:endParaRPr b="0" lang="ru-RU" sz="1200" spc="-1" strike="noStrike">
                        <a:latin typeface="Arial"/>
                      </a:endParaRPr>
                    </a:p>
                  </a:txBody>
                  <a:tcPr anchor="ctr" marL="91440" marR="91440">
                    <a:noFill/>
                  </a:tcPr>
                </a:tc>
              </a:tr>
              <a:tr h="85176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ru-RU" sz="1200" spc="-1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</a:rPr>
                        <a:t>Взвешенное расстояние</a:t>
                      </a:r>
                      <a:endParaRPr b="0" lang="ru-RU" sz="1200" spc="-1" strike="noStrike">
                        <a:latin typeface="Arial"/>
                      </a:endParaRPr>
                    </a:p>
                  </a:txBody>
                  <a:tcPr anchor="ctr" marL="91440" marR="91440"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</a:rPr>
                        <a:t>44</a:t>
                      </a:r>
                      <a:r>
                        <a:rPr b="1" lang="ru-RU" sz="1200" spc="-1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</a:rPr>
                        <a:t>.</a:t>
                      </a:r>
                      <a:r>
                        <a:rPr b="1" lang="en-US" sz="1200" spc="-1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</a:rPr>
                        <a:t>64</a:t>
                      </a:r>
                      <a:endParaRPr b="0" lang="ru-RU" sz="1200" spc="-1" strike="noStrike">
                        <a:latin typeface="Arial"/>
                      </a:endParaRPr>
                    </a:p>
                  </a:txBody>
                  <a:tcPr anchor="ctr" marL="91440" marR="91440">
                    <a:noFill/>
                  </a:tcPr>
                </a:tc>
              </a:tr>
            </a:tbl>
          </a:graphicData>
        </a:graphic>
      </p:graphicFrame>
      <p:sp>
        <p:nvSpPr>
          <p:cNvPr id="218" name="Rectangle 2"/>
          <p:cNvSpPr/>
          <p:nvPr/>
        </p:nvSpPr>
        <p:spPr>
          <a:xfrm>
            <a:off x="402480" y="3866400"/>
            <a:ext cx="8389440" cy="100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anchor="ctr">
            <a:sp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1000" spc="-1" strike="noStrike">
                <a:solidFill>
                  <a:srgbClr val="ffffff"/>
                </a:solidFill>
                <a:latin typeface="Arial"/>
                <a:ea typeface="Arial"/>
              </a:rPr>
              <a:t>Вывод:</a:t>
            </a:r>
            <a:endParaRPr b="0" lang="ru-RU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000" spc="-1" strike="noStrike">
                <a:solidFill>
                  <a:srgbClr val="ffffff"/>
                </a:solidFill>
                <a:latin typeface="Arial"/>
                <a:ea typeface="Arial"/>
              </a:rPr>
              <a:t>По графикам можно видеть, что первые 9 секунд пользователь достаточно точно воспроизвёл движения тренера. Косинусное сходство (направление движений) выше 0.998, а взвешенное расстояние не превышает 40 (абсолютное отклонение положения). Затем точность несколько снижается, и если направление движений в целом совпадает (косинусное сходство 0,990 в худшем случае), то положение точек значительно отклонилось (взвешенное расстояние 125 в худшем случае). Таким образом, на итоговую оценку «Средне» значительно повлияли последние 5 секунд выполнения упражнения.</a:t>
            </a:r>
            <a:endParaRPr b="0" lang="ru-RU" sz="1000" spc="-1" strike="noStrike">
              <a:latin typeface="Arial"/>
            </a:endParaRPr>
          </a:p>
        </p:txBody>
      </p:sp>
      <p:pic>
        <p:nvPicPr>
          <p:cNvPr id="219" name="Рисунок 1" descr=""/>
          <p:cNvPicPr/>
          <p:nvPr/>
        </p:nvPicPr>
        <p:blipFill>
          <a:blip r:embed="rId4"/>
          <a:stretch/>
        </p:blipFill>
        <p:spPr>
          <a:xfrm>
            <a:off x="402480" y="1040040"/>
            <a:ext cx="4891680" cy="2219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143</TotalTime>
  <Application>LibreOffice/7.3.1.3$Windows_X86_64 LibreOffice_project/a69ca51ded25f3eefd52d7bf9a5fad8c90b87951</Application>
  <AppVersion>15.0000</AppVersion>
  <Words>510</Words>
  <Paragraphs>90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admin</dc:creator>
  <dc:description/>
  <dc:language>ru-RU</dc:language>
  <cp:lastModifiedBy/>
  <dcterms:modified xsi:type="dcterms:W3CDTF">2026-03-10T20:05:26Z</dcterms:modified>
  <cp:revision>47</cp:revision>
  <dc:subject/>
  <dc:title>Презентация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8</vt:i4>
  </property>
  <property fmtid="{D5CDD505-2E9C-101B-9397-08002B2CF9AE}" pid="3" name="PresentationFormat">
    <vt:lpwstr>Экран (16:9)</vt:lpwstr>
  </property>
  <property fmtid="{D5CDD505-2E9C-101B-9397-08002B2CF9AE}" pid="4" name="Slides">
    <vt:i4>8</vt:i4>
  </property>
</Properties>
</file>