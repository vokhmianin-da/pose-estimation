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28.png" ContentType="image/png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jpeg" ContentType="image/jpe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jpeg" ContentType="image/jpeg"/>
  <Override PartName="/ppt/media/image14.png" ContentType="image/png"/>
  <Override PartName="/ppt/media/image15.png" ContentType="image/png"/>
  <Override PartName="/ppt/media/image16.jpeg" ContentType="image/jpeg"/>
  <Override PartName="/ppt/media/image17.png" ContentType="image/png"/>
  <Override PartName="/ppt/media/image18.png" ContentType="image/png"/>
  <Override PartName="/ppt/media/image19.jpeg" ContentType="image/jpeg"/>
  <Override PartName="/ppt/media/image20.png" ContentType="image/png"/>
  <Override PartName="/ppt/media/image21.png" ContentType="image/png"/>
  <Override PartName="/ppt/media/image22.jpeg" ContentType="image/jpeg"/>
  <Override PartName="/ppt/media/image23.png" ContentType="image/png"/>
  <Override PartName="/ppt/media/image24.png" ContentType="image/png"/>
  <Override PartName="/ppt/media/image25.jpeg" ContentType="image/jpeg"/>
  <Override PartName="/ppt/media/image27.png" ContentType="image/png"/>
  <Override PartName="/ppt/media/image26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перемещения страницы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2000" spc="-1" strike="noStrike">
                <a:latin typeface="Arial"/>
              </a:rPr>
              <a:t>Для правки формата примечаний щёлкните мышью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ru-RU" sz="1400" spc="-1" strike="noStrike">
                <a:latin typeface="Times New Roman"/>
              </a:rPr>
              <a:t>&lt;верхний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 type="dt" idx="5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 type="ftr" idx="6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 type="sldNum" idx="7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683532CD-3D8B-463C-90A5-0FA2D729B66C}" type="slidenum">
              <a:rPr b="0" lang="ru-RU" sz="1400" spc="-1" strike="noStrike">
                <a:latin typeface="Times New Roman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5160" cy="3428280"/>
          </a:xfrm>
          <a:prstGeom prst="rect">
            <a:avLst/>
          </a:prstGeom>
          <a:ln w="0">
            <a:noFill/>
          </a:ln>
        </p:spPr>
      </p:sp>
      <p:sp>
        <p:nvSpPr>
          <p:cNvPr id="22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ru-RU" sz="2000" spc="-1" strike="noStrike"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08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400" spc="-1" strike="noStrike">
                <a:solidFill>
                  <a:srgbClr val="000000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3B07842-84FC-4F0F-ADFA-F64B7A7F1EAF}" type="slidenum">
              <a:rPr b="0" lang="ru" sz="1400" spc="-1" strike="noStrike">
                <a:solidFill>
                  <a:srgbClr val="000000"/>
                </a:solidFill>
                <a:latin typeface="Arial"/>
                <a:ea typeface="Arial"/>
              </a:rPr>
              <a:t>&lt;номер&gt;</a:t>
            </a:fld>
            <a:endParaRPr b="0" lang="ru-RU" sz="14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9FCCFCA-1F6A-4DCF-AA93-C22946CEB6A3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03E48BA8-BC25-4DA2-B248-C710B11A1AC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118EFB5-2CD9-4BF9-8945-4FDD99BB22E9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293023D-BCA9-4FB6-8A78-11687B85E59D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7078F9D-8C0D-417A-AEF2-5787687221E2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subTitle"/>
          </p:nvPr>
        </p:nvSpPr>
        <p:spPr>
          <a:xfrm>
            <a:off x="311760" y="744480"/>
            <a:ext cx="8519760" cy="95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4AC6E89-FFA3-452E-84DD-D7CB950E75A8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67EF232-3F7A-4E22-81E0-6A0DE8F73A5C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8B0ACD5-516C-4492-A9C0-FE7691DB3659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7266B34-64E4-4836-B762-9F563FB348B0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408EE2F-1AD6-4326-8AC7-23E64DB6ED48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62AF8DD-E4F8-43E7-901B-60DFCDF7E844}" type="slidenum">
              <a:t>&lt;#&gt;</a:t>
            </a:fld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03F0031-8CE7-456A-B0EE-5542E79F9242}" type="slidenum">
              <a:t>&lt;#&gt;</a:t>
            </a:fld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6F8427F-58AA-4FF9-BFCE-ED4C09E900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48DF6C9-3659-400B-9AD1-5D3582BE8D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EBA8A51-1C6B-4BFB-B591-77C88C339AF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D6DF67-D1FB-4B88-8F37-C4B404E24B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72F0E3C-F96E-4821-950A-7678160EE6B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311760" y="744480"/>
            <a:ext cx="8519760" cy="9513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53967BE-830E-4502-B0E4-DA99CA926A4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7B2254C-3AD5-4D54-8F10-DBC0E38655E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3D0149B-1CEA-4F24-A1BC-D3A3FAEBB0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CF4204-3699-414B-8150-D0864672433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E92DA0C-3F83-4BEC-99A3-A156AFFF353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4ED048B-55B1-4927-863C-A5E5B0AFF2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4400" spc="-1" strike="noStrike"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8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79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3000"/>
          </a:bodyPr>
          <a:p>
            <a:endParaRPr b="0" lang="ru-RU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A3ADE6-442C-4342-957C-0A8BE6D270A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311760" y="744480"/>
            <a:ext cx="8519760" cy="2052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pc="-1" strike="noStrike"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7920" cy="392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rgbClr val="595959"/>
                </a:solidFill>
                <a:latin typeface="Arial"/>
                <a:ea typeface="Arial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45C3FBE4-F694-474E-BBCC-249339B4E4D8}" type="slidenum">
              <a:rPr b="0" lang="ru" sz="1000" spc="-1" strike="noStrike">
                <a:solidFill>
                  <a:srgbClr val="595959"/>
                </a:solidFill>
                <a:latin typeface="Arial"/>
                <a:ea typeface="Arial"/>
              </a:rPr>
              <a:t>8</a:t>
            </a:fld>
            <a:endParaRPr b="0" lang="ru-RU" sz="10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"/>
          </p:nvPr>
        </p:nvSpPr>
        <p:spPr>
          <a:xfrm>
            <a:off x="3124080" y="4767120"/>
            <a:ext cx="289476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ctr">
              <a:lnSpc>
                <a:spcPct val="100000"/>
              </a:lnSpc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lnSpc>
                <a:spcPct val="100000"/>
              </a:lnSpc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3"/>
          </p:nvPr>
        </p:nvSpPr>
        <p:spPr>
          <a:xfrm>
            <a:off x="6553080" y="4767120"/>
            <a:ext cx="213300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algn="l" pos="0"/>
              </a:tabLst>
              <a:defRPr b="0" lang="ru" sz="900" spc="-1" strike="noStrike">
                <a:solidFill>
                  <a:srgbClr val="888888"/>
                </a:solidFill>
                <a:latin typeface="Calibri"/>
                <a:ea typeface="Calibri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fld id="{C7725CF6-006B-4560-8B01-F2B4578DD4D7}" type="slidenum">
              <a:rPr b="0" lang="ru" sz="900" spc="-1" strike="noStrike">
                <a:solidFill>
                  <a:srgbClr val="888888"/>
                </a:solidFill>
                <a:latin typeface="Calibri"/>
                <a:ea typeface="Calibri"/>
              </a:rPr>
              <a:t>&lt;номер&gt;</a:t>
            </a:fld>
            <a:endParaRPr b="0" lang="ru-RU" sz="900" spc="-1" strike="noStrike"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4"/>
          </p:nvPr>
        </p:nvSpPr>
        <p:spPr>
          <a:xfrm>
            <a:off x="457200" y="4767120"/>
            <a:ext cx="2133000" cy="27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>
              <a:defRPr b="0" lang="ru-RU" sz="1400" spc="-1" strike="noStrike">
                <a:latin typeface="Times New Roman"/>
              </a:defRPr>
            </a:lvl1pPr>
          </a:lstStyle>
          <a:p>
            <a:r>
              <a:rPr b="0" lang="ru-RU" sz="1400" spc="-1" strike="noStrike">
                <a:latin typeface="Times New Roman"/>
              </a:rPr>
              <a:t>&lt;дата/время&gt;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ru-RU" sz="4400" spc="-1" strike="noStrike">
                <a:latin typeface="Arial"/>
              </a:rPr>
              <a:t>Для правки текста заглавия щёлкните мышью</a:t>
            </a:r>
            <a:endParaRPr b="0" lang="ru-RU" sz="4400" spc="-1" strike="noStrike"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latin typeface="Arial"/>
              </a:rPr>
              <a:t>Второй уровень структуры</a:t>
            </a:r>
            <a:endParaRPr b="0" lang="ru-RU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latin typeface="Arial"/>
              </a:rPr>
              <a:t>Третий уровень структуры</a:t>
            </a:r>
            <a:endParaRPr b="0" lang="ru-RU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latin typeface="Arial"/>
              </a:rPr>
              <a:t>Четвёртый уровень структуры</a:t>
            </a:r>
            <a:endParaRPr b="0" lang="ru-RU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Пятый уровень структуры</a:t>
            </a:r>
            <a:endParaRPr b="0" lang="ru-RU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Шестой уровень структуры</a:t>
            </a:r>
            <a:endParaRPr b="0" lang="ru-RU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latin typeface="Arial"/>
              </a:rPr>
              <a:t>Седьмой уровень структуры</a:t>
            </a:r>
            <a:endParaRPr b="0" lang="ru-RU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2.jpeg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slideLayout" Target="../slideLayouts/slideLayout1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5.jpeg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61;p14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87" name="Google Shape;62;p14" descr=""/>
          <p:cNvPicPr/>
          <p:nvPr/>
        </p:nvPicPr>
        <p:blipFill>
          <a:blip r:embed="rId2"/>
          <a:stretch/>
        </p:blipFill>
        <p:spPr>
          <a:xfrm>
            <a:off x="853200" y="3867840"/>
            <a:ext cx="2926080" cy="7920"/>
          </a:xfrm>
          <a:prstGeom prst="rect">
            <a:avLst/>
          </a:prstGeom>
          <a:ln w="0">
            <a:noFill/>
          </a:ln>
        </p:spPr>
      </p:pic>
      <p:pic>
        <p:nvPicPr>
          <p:cNvPr id="88" name="Google Shape;63;p14" descr=""/>
          <p:cNvPicPr/>
          <p:nvPr/>
        </p:nvPicPr>
        <p:blipFill>
          <a:blip r:embed="rId3"/>
          <a:stretch/>
        </p:blipFill>
        <p:spPr>
          <a:xfrm>
            <a:off x="725760" y="771480"/>
            <a:ext cx="3125520" cy="729000"/>
          </a:xfrm>
          <a:prstGeom prst="rect">
            <a:avLst/>
          </a:prstGeom>
          <a:ln w="0">
            <a:noFill/>
          </a:ln>
        </p:spPr>
      </p:pic>
      <p:sp>
        <p:nvSpPr>
          <p:cNvPr id="89" name="Google Shape;64;p14"/>
          <p:cNvSpPr/>
          <p:nvPr/>
        </p:nvSpPr>
        <p:spPr>
          <a:xfrm>
            <a:off x="725760" y="1712160"/>
            <a:ext cx="8041320" cy="11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-RU" sz="3200" spc="-1" strike="noStrike">
                <a:solidFill>
                  <a:srgbClr val="ffffff"/>
                </a:solidFill>
                <a:latin typeface="Arial"/>
                <a:ea typeface="Arial"/>
              </a:rPr>
              <a:t>Виртуальный тренер: сравнение движений с эталонным видео</a:t>
            </a: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90" name="Google Shape;65;p14"/>
          <p:cNvSpPr/>
          <p:nvPr/>
        </p:nvSpPr>
        <p:spPr>
          <a:xfrm>
            <a:off x="755640" y="3241440"/>
            <a:ext cx="6750000" cy="61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Выполнил: Вохмянин Д.А.</a:t>
            </a:r>
            <a:endParaRPr b="0" lang="ru-RU" sz="16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600" spc="-1" strike="noStrike">
                <a:solidFill>
                  <a:srgbClr val="ffffff"/>
                </a:solidFill>
                <a:latin typeface="Roboto"/>
                <a:ea typeface="Roboto"/>
              </a:rPr>
              <a:t>Группа: </a:t>
            </a:r>
            <a:r>
              <a:rPr b="0" lang="en-US" sz="1600" spc="-1" strike="noStrike">
                <a:solidFill>
                  <a:srgbClr val="ffffff"/>
                </a:solidFill>
                <a:latin typeface="Roboto"/>
                <a:ea typeface="Roboto"/>
              </a:rPr>
              <a:t>DSPR-1</a:t>
            </a:r>
            <a:r>
              <a:rPr b="0" lang="ru-RU" sz="1600" spc="-1" strike="noStrike">
                <a:solidFill>
                  <a:srgbClr val="ffffff"/>
                </a:solidFill>
                <a:latin typeface="Roboto"/>
                <a:ea typeface="Roboto"/>
              </a:rPr>
              <a:t>82</a:t>
            </a:r>
            <a:endParaRPr b="0" lang="ru-RU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70;p15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sp>
        <p:nvSpPr>
          <p:cNvPr id="92" name="Google Shape;71;p15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pic>
        <p:nvPicPr>
          <p:cNvPr id="93" name="Google Shape;72;p15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pic>
        <p:nvPicPr>
          <p:cNvPr id="94" name="Google Shape;73;p15" descr=""/>
          <p:cNvPicPr/>
          <p:nvPr/>
        </p:nvPicPr>
        <p:blipFill>
          <a:blip r:embed="rId3"/>
          <a:stretch/>
        </p:blipFill>
        <p:spPr>
          <a:xfrm>
            <a:off x="-109116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95" name="Google Shape;74;p15"/>
          <p:cNvSpPr/>
          <p:nvPr/>
        </p:nvSpPr>
        <p:spPr>
          <a:xfrm>
            <a:off x="323640" y="690120"/>
            <a:ext cx="313272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О чём Ваш проект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96" name="Google Shape;75;p15"/>
          <p:cNvSpPr/>
          <p:nvPr/>
        </p:nvSpPr>
        <p:spPr>
          <a:xfrm>
            <a:off x="539640" y="1551960"/>
            <a:ext cx="3527640" cy="106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Google Shape;76;p15"/>
          <p:cNvSpPr/>
          <p:nvPr/>
        </p:nvSpPr>
        <p:spPr>
          <a:xfrm>
            <a:off x="526320" y="1244160"/>
            <a:ext cx="3513960" cy="94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Тема</a:t>
            </a:r>
            <a:r>
              <a:rPr b="1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000000"/>
                </a:solidFill>
                <a:latin typeface="Roboto"/>
                <a:ea typeface="Roboto"/>
              </a:rPr>
              <a:t>«С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равнение движений на видео с использованием методов компьютерного зрения»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98" name="Google Shape;78;p15"/>
          <p:cNvSpPr/>
          <p:nvPr/>
        </p:nvSpPr>
        <p:spPr>
          <a:xfrm>
            <a:off x="4816440" y="1551960"/>
            <a:ext cx="407520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" name="Google Shape;79;p15"/>
          <p:cNvSpPr/>
          <p:nvPr/>
        </p:nvSpPr>
        <p:spPr>
          <a:xfrm>
            <a:off x="4803480" y="1244160"/>
            <a:ext cx="3513960" cy="113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Цель: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Р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азработка модели, способной сравнивать движения человека на видео с эталонной моделью для оценки качества выполнения упражнений.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0" name="Google Shape;81;p15"/>
          <p:cNvSpPr/>
          <p:nvPr/>
        </p:nvSpPr>
        <p:spPr>
          <a:xfrm>
            <a:off x="539640" y="3393000"/>
            <a:ext cx="352764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1" name="Google Shape;82;p15"/>
          <p:cNvSpPr/>
          <p:nvPr/>
        </p:nvSpPr>
        <p:spPr>
          <a:xfrm>
            <a:off x="532800" y="2378520"/>
            <a:ext cx="4276440" cy="235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200" spc="-1" strike="noStrike">
                <a:solidFill>
                  <a:srgbClr val="000000"/>
                </a:solidFill>
                <a:latin typeface="Roboto"/>
                <a:ea typeface="Roboto"/>
              </a:rPr>
              <a:t>Актуальность предложения: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Рост доступности онлайн-обучения и фитнеса требует решений, которые могут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автоматически оценивать технику движений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.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Использование модели компьютерного зрения позволяет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снизить потребность в постоянном присутствии тренера, 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и, таким образом, соответствующие затраты бизнеса, а также затраты времени потребителя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</p:txBody>
      </p:sp>
      <p:sp>
        <p:nvSpPr>
          <p:cNvPr id="102" name="Google Shape;84;p15"/>
          <p:cNvSpPr/>
          <p:nvPr/>
        </p:nvSpPr>
        <p:spPr>
          <a:xfrm>
            <a:off x="4501080" y="1347480"/>
            <a:ext cx="70200" cy="7020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Google Shape;85;p15"/>
          <p:cNvSpPr/>
          <p:nvPr/>
        </p:nvSpPr>
        <p:spPr>
          <a:xfrm>
            <a:off x="-73080" y="3056040"/>
            <a:ext cx="4680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91;p16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105" name="Google Shape;92;p16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pic>
        <p:nvPicPr>
          <p:cNvPr id="106" name="Google Shape;93;p16" descr=""/>
          <p:cNvPicPr/>
          <p:nvPr/>
        </p:nvPicPr>
        <p:blipFill>
          <a:blip r:embed="rId3"/>
          <a:stretch/>
        </p:blipFill>
        <p:spPr>
          <a:xfrm>
            <a:off x="-65916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107" name="Google Shape;94;p16"/>
          <p:cNvSpPr/>
          <p:nvPr/>
        </p:nvSpPr>
        <p:spPr>
          <a:xfrm>
            <a:off x="362880" y="1456200"/>
            <a:ext cx="43131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Google Shape;95;p16"/>
          <p:cNvSpPr/>
          <p:nvPr/>
        </p:nvSpPr>
        <p:spPr>
          <a:xfrm>
            <a:off x="284400" y="2523600"/>
            <a:ext cx="4392000" cy="11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09" name="Google Shape;96;p16"/>
          <p:cNvSpPr/>
          <p:nvPr/>
        </p:nvSpPr>
        <p:spPr>
          <a:xfrm>
            <a:off x="849240" y="1117800"/>
            <a:ext cx="311040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Продолжительность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0" name="Google Shape;97;p16"/>
          <p:cNvSpPr/>
          <p:nvPr/>
        </p:nvSpPr>
        <p:spPr>
          <a:xfrm>
            <a:off x="876960" y="1463040"/>
            <a:ext cx="29026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каждого из этапов: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по 2 часа на каждый этап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1" name="Google Shape;98;p16"/>
          <p:cNvSpPr/>
          <p:nvPr/>
        </p:nvSpPr>
        <p:spPr>
          <a:xfrm>
            <a:off x="804240" y="2192040"/>
            <a:ext cx="11872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Сроки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12" name="Google Shape;99;p16"/>
          <p:cNvSpPr/>
          <p:nvPr/>
        </p:nvSpPr>
        <p:spPr>
          <a:xfrm>
            <a:off x="849240" y="2558880"/>
            <a:ext cx="23907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" sz="1050" spc="-1" strike="noStrike">
                <a:solidFill>
                  <a:srgbClr val="000000"/>
                </a:solidFill>
                <a:latin typeface="Roboto"/>
                <a:ea typeface="Roboto"/>
              </a:rPr>
              <a:t>На весь проект: 10 </a:t>
            </a:r>
            <a:r>
              <a:rPr b="1" lang="ru-RU" sz="1050" spc="-1" strike="noStrike">
                <a:solidFill>
                  <a:srgbClr val="000000"/>
                </a:solidFill>
                <a:latin typeface="Roboto"/>
                <a:ea typeface="Roboto"/>
              </a:rPr>
              <a:t>часов</a:t>
            </a:r>
            <a:endParaRPr b="0" lang="ru-RU" sz="1050" spc="-1" strike="noStrike">
              <a:latin typeface="Arial"/>
            </a:endParaRPr>
          </a:p>
        </p:txBody>
      </p:sp>
      <p:sp>
        <p:nvSpPr>
          <p:cNvPr id="113" name="Google Shape;100;p16"/>
          <p:cNvSpPr/>
          <p:nvPr/>
        </p:nvSpPr>
        <p:spPr>
          <a:xfrm>
            <a:off x="4795200" y="1117800"/>
            <a:ext cx="4227840" cy="39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2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Технические ресурсы </a:t>
            </a: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Оборудование: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Персональный компьютер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с процессором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AMD Ryzen 7 5700X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 видеокартой 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NVIDIA GeForce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R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TX 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5070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(</a:t>
            </a:r>
            <a:r>
              <a:rPr b="1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12</a:t>
            </a: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GB VRAM)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br/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Программное обеспечение: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Язык: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 Python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3.11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PyTorch, torchvision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CUDA 12.8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для загрузки и использования модели </a:t>
            </a: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Keypoint R-CNN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OpenCV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 видео и изображений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Matplotlib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метрик и каркасов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NumPy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основная математика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Arial"/>
                <a:ea typeface="Arial"/>
              </a:rPr>
              <a:t>Git — </a:t>
            </a: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управление версиями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 разработки: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 VS Code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100" spc="-1" strike="noStrike">
                <a:solidFill>
                  <a:srgbClr val="000000"/>
                </a:solidFill>
                <a:latin typeface="Arial"/>
                <a:ea typeface="Arial"/>
              </a:rPr>
              <a:t>Интерфейс: PowerShell / Терминал</a:t>
            </a:r>
            <a:endParaRPr b="0" lang="ru-RU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100" spc="-1" strike="noStrike">
              <a:latin typeface="Arial"/>
            </a:endParaRPr>
          </a:p>
        </p:txBody>
      </p:sp>
      <p:sp>
        <p:nvSpPr>
          <p:cNvPr id="114" name="Google Shape;101;p16"/>
          <p:cNvSpPr/>
          <p:nvPr/>
        </p:nvSpPr>
        <p:spPr>
          <a:xfrm>
            <a:off x="358920" y="699480"/>
            <a:ext cx="29775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Планирование</a:t>
            </a:r>
            <a:endParaRPr b="0" lang="ru-RU" sz="1800" spc="-1" strike="noStrike">
              <a:latin typeface="Arial"/>
            </a:endParaRPr>
          </a:p>
        </p:txBody>
      </p:sp>
      <p:pic>
        <p:nvPicPr>
          <p:cNvPr id="115" name="Google Shape;102;p16" descr=""/>
          <p:cNvPicPr/>
          <p:nvPr/>
        </p:nvPicPr>
        <p:blipFill>
          <a:blip r:embed="rId4"/>
          <a:stretch/>
        </p:blipFill>
        <p:spPr>
          <a:xfrm>
            <a:off x="4274280" y="1072080"/>
            <a:ext cx="461880" cy="459720"/>
          </a:xfrm>
          <a:prstGeom prst="rect">
            <a:avLst/>
          </a:prstGeom>
          <a:ln w="0">
            <a:noFill/>
          </a:ln>
        </p:spPr>
      </p:pic>
      <p:pic>
        <p:nvPicPr>
          <p:cNvPr id="116" name="Google Shape;103;p16" descr=""/>
          <p:cNvPicPr/>
          <p:nvPr/>
        </p:nvPicPr>
        <p:blipFill>
          <a:blip r:embed="rId5"/>
          <a:stretch/>
        </p:blipFill>
        <p:spPr>
          <a:xfrm>
            <a:off x="402480" y="2163600"/>
            <a:ext cx="445680" cy="445680"/>
          </a:xfrm>
          <a:prstGeom prst="rect">
            <a:avLst/>
          </a:prstGeom>
          <a:ln w="0">
            <a:noFill/>
          </a:ln>
        </p:spPr>
      </p:pic>
      <p:pic>
        <p:nvPicPr>
          <p:cNvPr id="117" name="Google Shape;104;p16" descr=""/>
          <p:cNvPicPr/>
          <p:nvPr/>
        </p:nvPicPr>
        <p:blipFill>
          <a:blip r:embed="rId6"/>
          <a:stretch/>
        </p:blipFill>
        <p:spPr>
          <a:xfrm>
            <a:off x="421560" y="1101600"/>
            <a:ext cx="454680" cy="456840"/>
          </a:xfrm>
          <a:prstGeom prst="rect">
            <a:avLst/>
          </a:prstGeom>
          <a:ln w="0">
            <a:noFill/>
          </a:ln>
        </p:spPr>
      </p:pic>
      <p:sp>
        <p:nvSpPr>
          <p:cNvPr id="118" name="Google Shape;105;p16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0;p17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120" name="Google Shape;111;p17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sp>
        <p:nvSpPr>
          <p:cNvPr id="121" name="Google Shape;112;p17"/>
          <p:cNvSpPr/>
          <p:nvPr/>
        </p:nvSpPr>
        <p:spPr>
          <a:xfrm>
            <a:off x="395640" y="1004040"/>
            <a:ext cx="4571280" cy="30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Источники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Эталонная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загруженная запись с канала «ТРЕНЕР»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Пользовательская видеозапись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 собственная видеозапись выполнения упражнения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Продолжительность видеозаписей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была уменьшена до 15 секунд.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Формат данных: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.mp4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22" name="Google Shape;113;p17"/>
          <p:cNvSpPr/>
          <p:nvPr/>
        </p:nvSpPr>
        <p:spPr>
          <a:xfrm>
            <a:off x="395640" y="3166920"/>
            <a:ext cx="179964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3" name="Google Shape;114;p17"/>
          <p:cNvSpPr/>
          <p:nvPr/>
        </p:nvSpPr>
        <p:spPr>
          <a:xfrm>
            <a:off x="413280" y="2643840"/>
            <a:ext cx="2231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Google Shape;115;p17"/>
          <p:cNvSpPr/>
          <p:nvPr/>
        </p:nvSpPr>
        <p:spPr>
          <a:xfrm>
            <a:off x="395640" y="1396440"/>
            <a:ext cx="2231640" cy="25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Google Shape;116;p17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126" name="Google Shape;117;p17"/>
          <p:cNvSpPr/>
          <p:nvPr/>
        </p:nvSpPr>
        <p:spPr>
          <a:xfrm>
            <a:off x="2483640" y="3363840"/>
            <a:ext cx="18716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7" name="Google Shape;118;p17"/>
          <p:cNvSpPr/>
          <p:nvPr/>
        </p:nvSpPr>
        <p:spPr>
          <a:xfrm>
            <a:off x="2501640" y="2643840"/>
            <a:ext cx="1925640" cy="73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Google Shape;119;p17"/>
          <p:cNvSpPr/>
          <p:nvPr/>
        </p:nvSpPr>
        <p:spPr>
          <a:xfrm>
            <a:off x="4644000" y="3363840"/>
            <a:ext cx="187164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Google Shape;120;p17"/>
          <p:cNvSpPr/>
          <p:nvPr/>
        </p:nvSpPr>
        <p:spPr>
          <a:xfrm>
            <a:off x="4662000" y="2643840"/>
            <a:ext cx="2141640" cy="73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Google Shape;121;p17"/>
          <p:cNvSpPr/>
          <p:nvPr/>
        </p:nvSpPr>
        <p:spPr>
          <a:xfrm>
            <a:off x="6804360" y="3166920"/>
            <a:ext cx="191232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1" name="Google Shape;122;p17"/>
          <p:cNvSpPr/>
          <p:nvPr/>
        </p:nvSpPr>
        <p:spPr>
          <a:xfrm>
            <a:off x="6822000" y="2643840"/>
            <a:ext cx="2231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Google Shape;123;p17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28;p18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134" name="Google Shape;129;p18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sp>
        <p:nvSpPr>
          <p:cNvPr id="135" name="Google Shape;130;p18"/>
          <p:cNvSpPr/>
          <p:nvPr/>
        </p:nvSpPr>
        <p:spPr>
          <a:xfrm>
            <a:off x="359640" y="464760"/>
            <a:ext cx="4571280" cy="449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000000"/>
                </a:solidFill>
                <a:latin typeface="Roboto Black"/>
                <a:ea typeface="Roboto Black"/>
              </a:rPr>
              <a:t>Сбор и хранение данных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При записи пользовательского видео использовался максимально схожий с эталоном ракурс камеры. Видео записывалось на смартфон, затем из двух видео были вырезаны фрагменты длительностью 15 секунд с синхронным начальным положением.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Обработка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На каждом кадре с помощью Keypoint R-CNN определяются ключевые точки человека. Для синхронизации кадров двух видео используется линейная интерполяци.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Хранение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:</a:t>
            </a: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i="1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data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 - исходные данные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ref.mp4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user.mp4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в директории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output -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результирующее видео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result.mp4 </a:t>
            </a:r>
            <a:r>
              <a:rPr b="0" lang="ru-RU" sz="1400" spc="-1" strike="noStrike">
                <a:solidFill>
                  <a:srgbClr val="000000"/>
                </a:solidFill>
                <a:latin typeface="Arial"/>
                <a:ea typeface="Arial"/>
              </a:rPr>
              <a:t>и метрики качества </a:t>
            </a:r>
            <a:r>
              <a:rPr b="0" i="1" lang="en-US" sz="1400" spc="-1" strike="noStrike">
                <a:solidFill>
                  <a:srgbClr val="000000"/>
                </a:solidFill>
                <a:latin typeface="Arial"/>
                <a:ea typeface="Arial"/>
              </a:rPr>
              <a:t>metrics.png</a:t>
            </a:r>
            <a:endParaRPr b="0" lang="ru-RU" sz="1400" spc="-1" strike="noStrike">
              <a:latin typeface="Arial"/>
            </a:endParaRPr>
          </a:p>
        </p:txBody>
      </p:sp>
      <p:sp>
        <p:nvSpPr>
          <p:cNvPr id="136" name="Google Shape;131;p18"/>
          <p:cNvSpPr/>
          <p:nvPr/>
        </p:nvSpPr>
        <p:spPr>
          <a:xfrm>
            <a:off x="395640" y="3166920"/>
            <a:ext cx="179964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7" name="Google Shape;132;p18"/>
          <p:cNvSpPr/>
          <p:nvPr/>
        </p:nvSpPr>
        <p:spPr>
          <a:xfrm>
            <a:off x="413280" y="2643840"/>
            <a:ext cx="2231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Google Shape;133;p18"/>
          <p:cNvSpPr/>
          <p:nvPr/>
        </p:nvSpPr>
        <p:spPr>
          <a:xfrm>
            <a:off x="395640" y="1396440"/>
            <a:ext cx="3547800" cy="288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39" name="Google Shape;134;p18" descr=""/>
          <p:cNvPicPr/>
          <p:nvPr/>
        </p:nvPicPr>
        <p:blipFill>
          <a:blip r:embed="rId3"/>
          <a:stretch/>
        </p:blipFill>
        <p:spPr>
          <a:xfrm>
            <a:off x="-147672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140" name="Google Shape;135;p18"/>
          <p:cNvSpPr/>
          <p:nvPr/>
        </p:nvSpPr>
        <p:spPr>
          <a:xfrm>
            <a:off x="2483640" y="3363840"/>
            <a:ext cx="1871640" cy="50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Google Shape;136;p18"/>
          <p:cNvSpPr/>
          <p:nvPr/>
        </p:nvSpPr>
        <p:spPr>
          <a:xfrm>
            <a:off x="2501640" y="2643840"/>
            <a:ext cx="1925640" cy="73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Google Shape;137;p18"/>
          <p:cNvSpPr/>
          <p:nvPr/>
        </p:nvSpPr>
        <p:spPr>
          <a:xfrm>
            <a:off x="4644000" y="3363840"/>
            <a:ext cx="187164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Google Shape;138;p18"/>
          <p:cNvSpPr/>
          <p:nvPr/>
        </p:nvSpPr>
        <p:spPr>
          <a:xfrm>
            <a:off x="4662000" y="2643840"/>
            <a:ext cx="2141640" cy="73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4" name="Google Shape;139;p18"/>
          <p:cNvSpPr/>
          <p:nvPr/>
        </p:nvSpPr>
        <p:spPr>
          <a:xfrm>
            <a:off x="6804360" y="3166920"/>
            <a:ext cx="191232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Google Shape;140;p18"/>
          <p:cNvSpPr/>
          <p:nvPr/>
        </p:nvSpPr>
        <p:spPr>
          <a:xfrm>
            <a:off x="6822000" y="2643840"/>
            <a:ext cx="2231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46" name="Google Shape;141;p18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7" name="Google Shape;146;p19" descr=""/>
          <p:cNvPicPr/>
          <p:nvPr/>
        </p:nvPicPr>
        <p:blipFill>
          <a:blip r:embed="rId1"/>
          <a:stretch/>
        </p:blipFill>
        <p:spPr>
          <a:xfrm>
            <a:off x="-792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148" name="Google Shape;147;p19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pic>
        <p:nvPicPr>
          <p:cNvPr id="149" name="Google Shape;148;p19" descr=""/>
          <p:cNvPicPr/>
          <p:nvPr/>
        </p:nvPicPr>
        <p:blipFill>
          <a:blip r:embed="rId3"/>
          <a:stretch/>
        </p:blipFill>
        <p:spPr>
          <a:xfrm>
            <a:off x="-80316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150" name="Google Shape;149;p19"/>
          <p:cNvSpPr/>
          <p:nvPr/>
        </p:nvSpPr>
        <p:spPr>
          <a:xfrm>
            <a:off x="286920" y="690120"/>
            <a:ext cx="553608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Алгоритмы </a:t>
            </a:r>
            <a:r>
              <a:rPr b="0" lang="ru-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 методы </a:t>
            </a: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ИИ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51" name="Google Shape;150;p19"/>
          <p:cNvSpPr/>
          <p:nvPr/>
        </p:nvSpPr>
        <p:spPr>
          <a:xfrm>
            <a:off x="539640" y="1551960"/>
            <a:ext cx="3887640" cy="14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Google Shape;151;p19"/>
          <p:cNvSpPr/>
          <p:nvPr/>
        </p:nvSpPr>
        <p:spPr>
          <a:xfrm>
            <a:off x="526320" y="1244160"/>
            <a:ext cx="35139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3" name="Google Shape;152;p19"/>
          <p:cNvSpPr/>
          <p:nvPr/>
        </p:nvSpPr>
        <p:spPr>
          <a:xfrm>
            <a:off x="293760" y="1182600"/>
            <a:ext cx="3018240" cy="12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Keypoint R-CNN (из torchvision)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Используется для извлечения </a:t>
            </a: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ключевых точек (поз)</a:t>
            </a:r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 человека на каждом кадре видео.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Позволяет получить координаты 17 ключевых точек тела человека.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4" name="Google Shape;153;p19"/>
          <p:cNvSpPr/>
          <p:nvPr/>
        </p:nvSpPr>
        <p:spPr>
          <a:xfrm>
            <a:off x="4600440" y="1551960"/>
            <a:ext cx="4404240" cy="92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Google Shape;154;p19"/>
          <p:cNvSpPr/>
          <p:nvPr/>
        </p:nvSpPr>
        <p:spPr>
          <a:xfrm>
            <a:off x="4587480" y="1244160"/>
            <a:ext cx="35139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Google Shape;155;p19"/>
          <p:cNvSpPr/>
          <p:nvPr/>
        </p:nvSpPr>
        <p:spPr>
          <a:xfrm>
            <a:off x="293760" y="2562840"/>
            <a:ext cx="3513600" cy="123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Аффинное преобразование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Применяется для приведения ключевых точек пользователя к системе координат эталона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(учитывает масштаб, поворот, смещение).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57" name="Google Shape;156;p19"/>
          <p:cNvSpPr/>
          <p:nvPr/>
        </p:nvSpPr>
        <p:spPr>
          <a:xfrm>
            <a:off x="539640" y="3543840"/>
            <a:ext cx="3527640" cy="12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8" name="Google Shape;157;p19"/>
          <p:cNvSpPr/>
          <p:nvPr/>
        </p:nvSpPr>
        <p:spPr>
          <a:xfrm>
            <a:off x="526320" y="3065400"/>
            <a:ext cx="42764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Google Shape;158;p19"/>
          <p:cNvSpPr/>
          <p:nvPr/>
        </p:nvSpPr>
        <p:spPr>
          <a:xfrm>
            <a:off x="4428000" y="1244160"/>
            <a:ext cx="2953440" cy="99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Косинусное сходство поз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Вычисляет, насколько совпадает форма и ориентация тела (насколько совпадают направления векторов координат всех ключевых точек).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0" name="Google Shape;159;p19"/>
          <p:cNvSpPr/>
          <p:nvPr/>
        </p:nvSpPr>
        <p:spPr>
          <a:xfrm>
            <a:off x="4816440" y="3579840"/>
            <a:ext cx="4075200" cy="71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1" name="Google Shape;160;p19"/>
          <p:cNvSpPr/>
          <p:nvPr/>
        </p:nvSpPr>
        <p:spPr>
          <a:xfrm>
            <a:off x="4803480" y="3065400"/>
            <a:ext cx="40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Google Shape;161;p19"/>
          <p:cNvSpPr/>
          <p:nvPr/>
        </p:nvSpPr>
        <p:spPr>
          <a:xfrm>
            <a:off x="4464360" y="2561040"/>
            <a:ext cx="3398400" cy="15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Взвешенное расстояние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Определяет, насколько далеко поза пользователя ушла от эталонной (среднее абсолютное отклонение координат ключевых точек в пикселях после выравнивания).</a:t>
            </a:r>
            <a:endParaRPr b="0" lang="ru-RU" sz="1200" spc="-1" strike="noStrike">
              <a:latin typeface="Arial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-73080" y="3035880"/>
            <a:ext cx="46800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Google Shape;165;p19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sp>
        <p:nvSpPr>
          <p:cNvPr id="165" name="Прямоугольник 1"/>
          <p:cNvSpPr/>
          <p:nvPr/>
        </p:nvSpPr>
        <p:spPr>
          <a:xfrm>
            <a:off x="323640" y="3712680"/>
            <a:ext cx="2953440" cy="100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Графическая визуализация результатов</a:t>
            </a:r>
            <a:br/>
            <a:r>
              <a:rPr b="0" lang="ru-RU" sz="1200" spc="-1" strike="noStrike">
                <a:solidFill>
                  <a:srgbClr val="000000"/>
                </a:solidFill>
                <a:latin typeface="Arial"/>
                <a:ea typeface="Arial"/>
              </a:rPr>
              <a:t>Наложение текущих значений метрик и ключевых точек тренера на каждый кадр пользовательского видео.</a:t>
            </a:r>
            <a:endParaRPr b="0" lang="ru-RU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70;p20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167" name="Google Shape;171;p20" descr=""/>
          <p:cNvPicPr/>
          <p:nvPr/>
        </p:nvPicPr>
        <p:blipFill>
          <a:blip r:embed="rId2"/>
          <a:stretch/>
        </p:blipFill>
        <p:spPr>
          <a:xfrm>
            <a:off x="7812360" y="187920"/>
            <a:ext cx="1079280" cy="245520"/>
          </a:xfrm>
          <a:prstGeom prst="rect">
            <a:avLst/>
          </a:prstGeom>
          <a:ln w="0">
            <a:noFill/>
          </a:ln>
        </p:spPr>
      </p:pic>
      <p:pic>
        <p:nvPicPr>
          <p:cNvPr id="168" name="Google Shape;172;p20" descr=""/>
          <p:cNvPicPr/>
          <p:nvPr/>
        </p:nvPicPr>
        <p:blipFill>
          <a:blip r:embed="rId3"/>
          <a:stretch/>
        </p:blipFill>
        <p:spPr>
          <a:xfrm>
            <a:off x="-1836720" y="474840"/>
            <a:ext cx="2926080" cy="7920"/>
          </a:xfrm>
          <a:prstGeom prst="rect">
            <a:avLst/>
          </a:prstGeom>
          <a:ln w="0">
            <a:noFill/>
          </a:ln>
        </p:spPr>
      </p:pic>
      <p:sp>
        <p:nvSpPr>
          <p:cNvPr id="169" name="Google Shape;173;p20"/>
          <p:cNvSpPr/>
          <p:nvPr/>
        </p:nvSpPr>
        <p:spPr>
          <a:xfrm>
            <a:off x="323640" y="555480"/>
            <a:ext cx="424800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1800" spc="-1" strike="noStrike">
                <a:solidFill>
                  <a:srgbClr val="000000"/>
                </a:solidFill>
                <a:latin typeface="Roboto Black"/>
                <a:ea typeface="Roboto Black"/>
              </a:rPr>
              <a:t>Технологический стек для проекта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170" name="Google Shape;174;p20"/>
          <p:cNvSpPr/>
          <p:nvPr/>
        </p:nvSpPr>
        <p:spPr>
          <a:xfrm>
            <a:off x="539640" y="1715040"/>
            <a:ext cx="2663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Google Shape;175;p20"/>
          <p:cNvSpPr/>
          <p:nvPr/>
        </p:nvSpPr>
        <p:spPr>
          <a:xfrm>
            <a:off x="526320" y="1244160"/>
            <a:ext cx="22449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2" name="Google Shape;176;p20"/>
          <p:cNvSpPr/>
          <p:nvPr/>
        </p:nvSpPr>
        <p:spPr>
          <a:xfrm>
            <a:off x="205200" y="1850400"/>
            <a:ext cx="2521800" cy="88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💻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Язык программирования: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Python 3.11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 — основной язык разработки и анализа данных.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3" name="Google Shape;177;p20"/>
          <p:cNvSpPr/>
          <p:nvPr/>
        </p:nvSpPr>
        <p:spPr>
          <a:xfrm>
            <a:off x="3376440" y="1715040"/>
            <a:ext cx="242028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Google Shape;178;p20"/>
          <p:cNvSpPr/>
          <p:nvPr/>
        </p:nvSpPr>
        <p:spPr>
          <a:xfrm>
            <a:off x="3363120" y="1244160"/>
            <a:ext cx="22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Google Shape;179;p20"/>
          <p:cNvSpPr/>
          <p:nvPr/>
        </p:nvSpPr>
        <p:spPr>
          <a:xfrm>
            <a:off x="4644000" y="1182600"/>
            <a:ext cx="2608200" cy="179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📚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Библиотеки и фреймворки: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PyTorch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,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Torchvision </a:t>
            </a:r>
            <a:r>
              <a:rPr b="1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с поддержкой </a:t>
            </a: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CUDA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загрузка и использование модели 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Keypoint R-CNN;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OpenCV, PIL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извлечение кадров, работа с видео;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Matplotlib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визуализация результатов и графиков;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NumPy</a:t>
            </a:r>
            <a:r>
              <a:rPr b="0" lang="en-US" sz="900" spc="-1" strike="noStrike">
                <a:solidFill>
                  <a:srgbClr val="000000"/>
                </a:solidFill>
                <a:latin typeface="Arial"/>
                <a:ea typeface="Arial"/>
              </a:rPr>
              <a:t> — </a:t>
            </a:r>
            <a:r>
              <a:rPr b="0" lang="ru-RU" sz="900" spc="-1" strike="noStrike">
                <a:solidFill>
                  <a:srgbClr val="000000"/>
                </a:solidFill>
                <a:latin typeface="Arial"/>
                <a:ea typeface="Arial"/>
              </a:rPr>
              <a:t>векторные и матричные вычисления.</a:t>
            </a:r>
            <a:endParaRPr b="0" lang="ru-RU" sz="9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900" spc="-1" strike="noStrike">
              <a:latin typeface="Arial"/>
            </a:endParaRPr>
          </a:p>
        </p:txBody>
      </p:sp>
      <p:sp>
        <p:nvSpPr>
          <p:cNvPr id="176" name="Google Shape;180;p20"/>
          <p:cNvSpPr/>
          <p:nvPr/>
        </p:nvSpPr>
        <p:spPr>
          <a:xfrm>
            <a:off x="4570920" y="302400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Google Shape;181;p20"/>
          <p:cNvSpPr/>
          <p:nvPr/>
        </p:nvSpPr>
        <p:spPr>
          <a:xfrm>
            <a:off x="2483640" y="1198080"/>
            <a:ext cx="89172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8" name="Google Shape;183;p20"/>
          <p:cNvSpPr/>
          <p:nvPr/>
        </p:nvSpPr>
        <p:spPr>
          <a:xfrm>
            <a:off x="8215920" y="1203480"/>
            <a:ext cx="16120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Google Shape;186;p20"/>
          <p:cNvSpPr/>
          <p:nvPr/>
        </p:nvSpPr>
        <p:spPr>
          <a:xfrm>
            <a:off x="5436000" y="1203480"/>
            <a:ext cx="50328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Google Shape;188;p20"/>
          <p:cNvSpPr/>
          <p:nvPr/>
        </p:nvSpPr>
        <p:spPr>
          <a:xfrm>
            <a:off x="6112800" y="1722960"/>
            <a:ext cx="241920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1" name="Google Shape;189;p20"/>
          <p:cNvSpPr/>
          <p:nvPr/>
        </p:nvSpPr>
        <p:spPr>
          <a:xfrm>
            <a:off x="6099480" y="1252080"/>
            <a:ext cx="22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Google Shape;190;p20"/>
          <p:cNvSpPr/>
          <p:nvPr/>
        </p:nvSpPr>
        <p:spPr>
          <a:xfrm>
            <a:off x="5866920" y="1190520"/>
            <a:ext cx="3171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Google Shape;191;p20"/>
          <p:cNvSpPr/>
          <p:nvPr/>
        </p:nvSpPr>
        <p:spPr>
          <a:xfrm>
            <a:off x="526320" y="2831400"/>
            <a:ext cx="2663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4" name="Google Shape;192;p20"/>
          <p:cNvSpPr/>
          <p:nvPr/>
        </p:nvSpPr>
        <p:spPr>
          <a:xfrm>
            <a:off x="526320" y="2526840"/>
            <a:ext cx="22449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Google Shape;193;p20"/>
          <p:cNvSpPr/>
          <p:nvPr/>
        </p:nvSpPr>
        <p:spPr>
          <a:xfrm>
            <a:off x="205200" y="1173600"/>
            <a:ext cx="1965600" cy="47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🧪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Среда разработки: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Visual Studio </a:t>
            </a:r>
            <a:r>
              <a:rPr b="1" lang="en-US" sz="1000" spc="-1" strike="noStrike">
                <a:solidFill>
                  <a:srgbClr val="000000"/>
                </a:solidFill>
                <a:latin typeface="Arial"/>
                <a:ea typeface="Arial"/>
              </a:rPr>
              <a:t>Code</a:t>
            </a:r>
            <a:endParaRPr b="0" lang="ru-RU" sz="1000" spc="-1" strike="noStrike">
              <a:latin typeface="Arial"/>
            </a:endParaRPr>
          </a:p>
        </p:txBody>
      </p:sp>
      <p:sp>
        <p:nvSpPr>
          <p:cNvPr id="186" name="Google Shape;194;p20"/>
          <p:cNvSpPr/>
          <p:nvPr/>
        </p:nvSpPr>
        <p:spPr>
          <a:xfrm>
            <a:off x="3376440" y="2997720"/>
            <a:ext cx="242028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Google Shape;195;p20"/>
          <p:cNvSpPr/>
          <p:nvPr/>
        </p:nvSpPr>
        <p:spPr>
          <a:xfrm>
            <a:off x="3363120" y="2526840"/>
            <a:ext cx="22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Google Shape;196;p20"/>
          <p:cNvSpPr/>
          <p:nvPr/>
        </p:nvSpPr>
        <p:spPr>
          <a:xfrm>
            <a:off x="4658040" y="2976120"/>
            <a:ext cx="2304720" cy="10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⚙️ </a:t>
            </a: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Инструменты: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Git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контроль версий;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PowerShell / Терминал</a:t>
            </a:r>
            <a:r>
              <a:rPr b="0" lang="ru-RU" sz="1000" spc="-1" strike="noStrike">
                <a:solidFill>
                  <a:srgbClr val="000000"/>
                </a:solidFill>
                <a:latin typeface="Arial"/>
                <a:ea typeface="Arial"/>
              </a:rPr>
              <a:t> — выполнение скриптов.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000" spc="-1" strike="noStrike">
              <a:latin typeface="Arial"/>
            </a:endParaRPr>
          </a:p>
        </p:txBody>
      </p:sp>
      <p:sp>
        <p:nvSpPr>
          <p:cNvPr id="189" name="Google Shape;202;p20"/>
          <p:cNvSpPr/>
          <p:nvPr/>
        </p:nvSpPr>
        <p:spPr>
          <a:xfrm>
            <a:off x="6112800" y="3005640"/>
            <a:ext cx="2635200" cy="78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ru-RU" sz="1800" spc="-1" strike="noStrike">
              <a:latin typeface="Arial"/>
            </a:endParaRPr>
          </a:p>
        </p:txBody>
      </p:sp>
      <p:sp>
        <p:nvSpPr>
          <p:cNvPr id="190" name="Google Shape;203;p20"/>
          <p:cNvSpPr/>
          <p:nvPr/>
        </p:nvSpPr>
        <p:spPr>
          <a:xfrm>
            <a:off x="6099480" y="2534760"/>
            <a:ext cx="22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Google Shape;205;p20"/>
          <p:cNvSpPr/>
          <p:nvPr/>
        </p:nvSpPr>
        <p:spPr>
          <a:xfrm>
            <a:off x="4570920" y="4269960"/>
            <a:ext cx="183960" cy="36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2" name="Google Shape;208;p20"/>
          <p:cNvSpPr/>
          <p:nvPr/>
        </p:nvSpPr>
        <p:spPr>
          <a:xfrm>
            <a:off x="507960" y="4281120"/>
            <a:ext cx="266364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Google Shape;209;p20"/>
          <p:cNvSpPr/>
          <p:nvPr/>
        </p:nvSpPr>
        <p:spPr>
          <a:xfrm>
            <a:off x="526320" y="3773160"/>
            <a:ext cx="22449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4" name="Google Shape;211;p20"/>
          <p:cNvSpPr/>
          <p:nvPr/>
        </p:nvSpPr>
        <p:spPr>
          <a:xfrm>
            <a:off x="3376440" y="4269960"/>
            <a:ext cx="267336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Google Shape;212;p20"/>
          <p:cNvSpPr/>
          <p:nvPr/>
        </p:nvSpPr>
        <p:spPr>
          <a:xfrm>
            <a:off x="3363120" y="3773160"/>
            <a:ext cx="228816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Google Shape;218;p20"/>
          <p:cNvSpPr/>
          <p:nvPr/>
        </p:nvSpPr>
        <p:spPr>
          <a:xfrm>
            <a:off x="6194880" y="4042440"/>
            <a:ext cx="2635200" cy="64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Google Shape;219;p20"/>
          <p:cNvSpPr/>
          <p:nvPr/>
        </p:nvSpPr>
        <p:spPr>
          <a:xfrm>
            <a:off x="6194880" y="3758040"/>
            <a:ext cx="298476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8" name="Google Shape;221;p20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000000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226;p21" descr=""/>
          <p:cNvPicPr/>
          <p:nvPr/>
        </p:nvPicPr>
        <p:blipFill>
          <a:blip r:embed="rId1"/>
          <a:stretch/>
        </p:blipFill>
        <p:spPr>
          <a:xfrm>
            <a:off x="0" y="0"/>
            <a:ext cx="9143280" cy="5142960"/>
          </a:xfrm>
          <a:prstGeom prst="rect">
            <a:avLst/>
          </a:prstGeom>
          <a:ln w="0">
            <a:noFill/>
          </a:ln>
        </p:spPr>
      </p:pic>
      <p:pic>
        <p:nvPicPr>
          <p:cNvPr id="200" name="Google Shape;227;p21" descr=""/>
          <p:cNvPicPr/>
          <p:nvPr/>
        </p:nvPicPr>
        <p:blipFill>
          <a:blip r:embed="rId2"/>
          <a:stretch/>
        </p:blipFill>
        <p:spPr>
          <a:xfrm>
            <a:off x="-1260720" y="474840"/>
            <a:ext cx="2926080" cy="7920"/>
          </a:xfrm>
          <a:prstGeom prst="rect">
            <a:avLst/>
          </a:prstGeom>
          <a:ln w="0">
            <a:noFill/>
          </a:ln>
        </p:spPr>
      </p:pic>
      <p:pic>
        <p:nvPicPr>
          <p:cNvPr id="201" name="Google Shape;228;p21" descr=""/>
          <p:cNvPicPr/>
          <p:nvPr/>
        </p:nvPicPr>
        <p:blipFill>
          <a:blip r:embed="rId3"/>
          <a:stretch/>
        </p:blipFill>
        <p:spPr>
          <a:xfrm>
            <a:off x="7821000" y="195480"/>
            <a:ext cx="1062000" cy="247320"/>
          </a:xfrm>
          <a:prstGeom prst="rect">
            <a:avLst/>
          </a:prstGeom>
          <a:ln w="0">
            <a:noFill/>
          </a:ln>
        </p:spPr>
      </p:pic>
      <p:sp>
        <p:nvSpPr>
          <p:cNvPr id="202" name="Google Shape;229;p21"/>
          <p:cNvSpPr/>
          <p:nvPr/>
        </p:nvSpPr>
        <p:spPr>
          <a:xfrm>
            <a:off x="611640" y="1131480"/>
            <a:ext cx="4571280" cy="83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2400" spc="-1" strike="noStrike">
                <a:solidFill>
                  <a:srgbClr val="ffffff"/>
                </a:solidFill>
                <a:latin typeface="Roboto Black"/>
                <a:ea typeface="Roboto Black"/>
              </a:rPr>
              <a:t>Метрики успешности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203" name="Google Shape;230;p21"/>
          <p:cNvSpPr/>
          <p:nvPr/>
        </p:nvSpPr>
        <p:spPr>
          <a:xfrm>
            <a:off x="611640" y="1995840"/>
            <a:ext cx="22316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Google Shape;231;p21"/>
          <p:cNvSpPr/>
          <p:nvPr/>
        </p:nvSpPr>
        <p:spPr>
          <a:xfrm>
            <a:off x="683640" y="262476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Google Shape;232;p21"/>
          <p:cNvSpPr/>
          <p:nvPr/>
        </p:nvSpPr>
        <p:spPr>
          <a:xfrm>
            <a:off x="3780000" y="262476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Google Shape;233;p21"/>
          <p:cNvSpPr/>
          <p:nvPr/>
        </p:nvSpPr>
        <p:spPr>
          <a:xfrm>
            <a:off x="6732360" y="262476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7" name="Google Shape;234;p21"/>
          <p:cNvSpPr/>
          <p:nvPr/>
        </p:nvSpPr>
        <p:spPr>
          <a:xfrm>
            <a:off x="3804480" y="389052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8" name="Google Shape;235;p21"/>
          <p:cNvSpPr/>
          <p:nvPr/>
        </p:nvSpPr>
        <p:spPr>
          <a:xfrm>
            <a:off x="6732360" y="386316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09" name="Google Shape;236;p21"/>
          <p:cNvSpPr/>
          <p:nvPr/>
        </p:nvSpPr>
        <p:spPr>
          <a:xfrm>
            <a:off x="755640" y="242784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Google Shape;237;p21"/>
          <p:cNvSpPr/>
          <p:nvPr/>
        </p:nvSpPr>
        <p:spPr>
          <a:xfrm>
            <a:off x="3852000" y="242784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Google Shape;238;p21"/>
          <p:cNvSpPr/>
          <p:nvPr/>
        </p:nvSpPr>
        <p:spPr>
          <a:xfrm>
            <a:off x="6804360" y="242784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2" name="Google Shape;239;p21"/>
          <p:cNvSpPr/>
          <p:nvPr/>
        </p:nvSpPr>
        <p:spPr>
          <a:xfrm>
            <a:off x="3852000" y="366588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3" name="Google Shape;240;p21"/>
          <p:cNvSpPr/>
          <p:nvPr/>
        </p:nvSpPr>
        <p:spPr>
          <a:xfrm>
            <a:off x="6807960" y="366588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Google Shape;241;p21"/>
          <p:cNvSpPr/>
          <p:nvPr/>
        </p:nvSpPr>
        <p:spPr>
          <a:xfrm>
            <a:off x="683640" y="3863160"/>
            <a:ext cx="1727640" cy="52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5" name="Google Shape;242;p21"/>
          <p:cNvSpPr/>
          <p:nvPr/>
        </p:nvSpPr>
        <p:spPr>
          <a:xfrm>
            <a:off x="755640" y="3666240"/>
            <a:ext cx="143280" cy="143280"/>
          </a:xfrm>
          <a:prstGeom prst="ellipse">
            <a:avLst/>
          </a:prstGeom>
          <a:solidFill>
            <a:srgbClr val="00b05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16" name="Google Shape;243;p21"/>
          <p:cNvSpPr/>
          <p:nvPr/>
        </p:nvSpPr>
        <p:spPr>
          <a:xfrm>
            <a:off x="205200" y="196200"/>
            <a:ext cx="35139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" sz="800" spc="-1" strike="noStrike">
                <a:solidFill>
                  <a:srgbClr val="ffffff"/>
                </a:solidFill>
                <a:latin typeface="Roboto"/>
                <a:ea typeface="Roboto"/>
              </a:rPr>
              <a:t>Специализация «Data Science, Computer Vision»</a:t>
            </a:r>
            <a:endParaRPr b="0" lang="ru-RU" sz="800" spc="-1" strike="noStrike">
              <a:latin typeface="Arial"/>
            </a:endParaRPr>
          </a:p>
        </p:txBody>
      </p:sp>
      <p:graphicFrame>
        <p:nvGraphicFramePr>
          <p:cNvPr id="217" name="Таблица 3"/>
          <p:cNvGraphicFramePr/>
          <p:nvPr/>
        </p:nvGraphicFramePr>
        <p:xfrm>
          <a:off x="5364360" y="1044720"/>
          <a:ext cx="3655800" cy="2214000"/>
        </p:xfrm>
        <a:graphic>
          <a:graphicData uri="http://schemas.openxmlformats.org/drawingml/2006/table">
            <a:tbl>
              <a:tblPr/>
              <a:tblGrid>
                <a:gridCol w="1828080"/>
                <a:gridCol w="1828080"/>
              </a:tblGrid>
              <a:tr h="5108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Метрика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Значение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Косинусное сходство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0.99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82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  <a:tr h="8517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0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Взвешенное расстояние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44</a:t>
                      </a:r>
                      <a:r>
                        <a:rPr b="1" lang="ru-RU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.</a:t>
                      </a: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</a:rPr>
                        <a:t>64</a:t>
                      </a:r>
                      <a:endParaRPr b="0" lang="ru-RU" sz="1200" spc="-1" strike="noStrike">
                        <a:latin typeface="Arial"/>
                      </a:endParaRPr>
                    </a:p>
                  </a:txBody>
                  <a:tcPr anchor="ctr" marL="91440" marR="91440">
                    <a:noFill/>
                  </a:tcPr>
                </a:tc>
              </a:tr>
            </a:tbl>
          </a:graphicData>
        </a:graphic>
      </p:graphicFrame>
      <p:sp>
        <p:nvSpPr>
          <p:cNvPr id="218" name="Rectangle 2"/>
          <p:cNvSpPr/>
          <p:nvPr/>
        </p:nvSpPr>
        <p:spPr>
          <a:xfrm>
            <a:off x="402480" y="3866760"/>
            <a:ext cx="8389080" cy="1004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90000" rIns="90000" tIns="45000" bIns="45000" anchor="ctr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Вывод:</a:t>
            </a:r>
            <a:endParaRPr b="0" lang="ru-RU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000" spc="-1" strike="noStrike">
                <a:solidFill>
                  <a:srgbClr val="ffffff"/>
                </a:solidFill>
                <a:latin typeface="Arial"/>
                <a:ea typeface="Arial"/>
              </a:rPr>
              <a:t>По графикам можно видеть, что первые 9 секунд пользователь достаточно точно воспроизвёл движения тренера. Косинусное сходство (направление движений) выше 0.998, а взвешенное расстояние не превышает 40 (абсолютное отклонение положения). Затем точность несколько снижается, и если направление движений в целом совпадает (косинусное сходство 0,990 в худшем случае), то положение точек значительно отклонилось (взвешенное расстояние 125 в худшем случае). Таким образом, на итоговую оценку «Средне» значительно повлияли последние 5 секунд выполнения упражнения.</a:t>
            </a:r>
            <a:endParaRPr b="0" lang="ru-RU" sz="1000" spc="-1" strike="noStrike">
              <a:latin typeface="Arial"/>
            </a:endParaRPr>
          </a:p>
        </p:txBody>
      </p:sp>
      <p:pic>
        <p:nvPicPr>
          <p:cNvPr id="219" name="Рисунок 1" descr=""/>
          <p:cNvPicPr/>
          <p:nvPr/>
        </p:nvPicPr>
        <p:blipFill>
          <a:blip r:embed="rId4"/>
          <a:stretch/>
        </p:blipFill>
        <p:spPr>
          <a:xfrm>
            <a:off x="402480" y="1040040"/>
            <a:ext cx="4891320" cy="22186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143</TotalTime>
  <Application>LibreOffice/7.3.1.3$Windows_X86_64 LibreOffice_project/a69ca51ded25f3eefd52d7bf9a5fad8c90b87951</Application>
  <AppVersion>15.0000</AppVersion>
  <Words>510</Words>
  <Paragraphs>90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admin</dc:creator>
  <dc:description/>
  <dc:language>ru-RU</dc:language>
  <cp:lastModifiedBy/>
  <dcterms:modified xsi:type="dcterms:W3CDTF">2026-03-13T14:17:34Z</dcterms:modified>
  <cp:revision>48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Экран (16:9)</vt:lpwstr>
  </property>
  <property fmtid="{D5CDD505-2E9C-101B-9397-08002B2CF9AE}" pid="4" name="Slides">
    <vt:i4>8</vt:i4>
  </property>
</Properties>
</file>