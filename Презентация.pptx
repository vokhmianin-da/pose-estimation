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media/image28.png" ContentType="image/png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jpeg" ContentType="image/jpe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jpeg" ContentType="image/jpeg"/>
  <Override PartName="/ppt/media/image14.png" ContentType="image/png"/>
  <Override PartName="/ppt/media/image15.png" ContentType="image/png"/>
  <Override PartName="/ppt/media/image16.jpeg" ContentType="image/jpeg"/>
  <Override PartName="/ppt/media/image17.png" ContentType="image/png"/>
  <Override PartName="/ppt/media/image18.png" ContentType="image/png"/>
  <Override PartName="/ppt/media/image19.jpeg" ContentType="image/jpeg"/>
  <Override PartName="/ppt/media/image20.png" ContentType="image/png"/>
  <Override PartName="/ppt/media/image21.png" ContentType="image/png"/>
  <Override PartName="/ppt/media/image22.jpeg" ContentType="image/jpeg"/>
  <Override PartName="/ppt/media/image23.png" ContentType="image/png"/>
  <Override PartName="/ppt/media/image24.png" ContentType="image/png"/>
  <Override PartName="/ppt/media/image25.jpeg" ContentType="image/jpeg"/>
  <Override PartName="/ppt/media/image27.png" ContentType="image/png"/>
  <Override PartName="/ppt/media/image26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dt" idx="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ftr" idx="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 type="sldNum" idx="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00D4C497-E670-4CD8-BC5C-0478176B8375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360" cy="45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098DEF80-E224-405E-A20D-DC67CFCF3ADE}" type="slidenum">
              <a:rPr b="0" lang="ru" sz="1400" spc="-1" strike="noStrike">
                <a:solidFill>
                  <a:srgbClr val="000000"/>
                </a:solidFill>
                <a:latin typeface="Arial"/>
                <a:ea typeface="Arial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AFC4829-C250-4930-BC06-CAFE019E7E8C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4B9A08D-724E-4D5A-A9C4-273502B82E35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FF4FEC8-04C0-4E21-8FE6-32A99C83A613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6657684-1FCC-49B8-8D7F-DBADB32D7C46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39AD7CC-9EF7-43D5-952B-18B932E9A2ED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11CC895-15F3-433E-934F-6C19792E40A3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FE3E825-DD37-4BE0-AB60-F984E7B0E50C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025E577-2F62-42FF-9A85-C0B42C9221AC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4857390-FBAE-4A1C-9656-3A709E117711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83532957-B2A0-44A4-B2AC-D5F2AC273856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F47E259-11BA-44EC-AE1E-FAA3993DFDB5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CFA4259-A180-4E7D-BD84-2EC150314BB2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E01AE8E-7F07-4E11-AEF7-96539A3BA4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411064F-A5CE-4393-AB1F-1D0FB8847E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CEA91FF-1ACC-4006-B18F-0A3B3DA6706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29DCDF8-9295-4D87-91C0-A85D252C07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37396D1-F1F0-4323-8173-5AE912D686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970926C-15AA-4D13-9521-F0DB2C26B89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E03AE0A-B675-43C7-B819-A2101A83BE0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279EFAE-E9CA-4FF2-A116-37A9EAEB701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7941F83-79F7-4AEF-BB25-5A52935F2A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2629A61-AEB0-408E-9166-2D5B8D7DE1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5E3E959-1AF9-47C2-A4A1-56093C80C87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9360"/>
            <a:ext cx="8229240" cy="1250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B21BA7D-E9B0-4F8F-8147-FDBC7B71656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200" cy="392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1368A135-35AD-42FF-A5F8-7E50FA5B8CD4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"/>
          </p:nvPr>
        </p:nvSpPr>
        <p:spPr>
          <a:xfrm>
            <a:off x="3124080" y="4767120"/>
            <a:ext cx="2894040" cy="27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3"/>
          </p:nvPr>
        </p:nvSpPr>
        <p:spPr>
          <a:xfrm>
            <a:off x="6553080" y="4767120"/>
            <a:ext cx="2132280" cy="27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9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8B582201-C6CD-45EE-93A5-2A9E5CFC9D00}" type="slidenum">
              <a:rPr b="0" lang="ru" sz="900" spc="-1" strike="noStrike">
                <a:solidFill>
                  <a:srgbClr val="888888"/>
                </a:solidFill>
                <a:latin typeface="Calibri"/>
                <a:ea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4"/>
          </p:nvPr>
        </p:nvSpPr>
        <p:spPr>
          <a:xfrm>
            <a:off x="457200" y="4767120"/>
            <a:ext cx="2132280" cy="27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2.jpe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5.jpe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1;p14" descr="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0">
            <a:noFill/>
          </a:ln>
        </p:spPr>
      </p:pic>
      <p:pic>
        <p:nvPicPr>
          <p:cNvPr id="87" name="Google Shape;62;p14" descr=""/>
          <p:cNvPicPr/>
          <p:nvPr/>
        </p:nvPicPr>
        <p:blipFill>
          <a:blip r:embed="rId2"/>
          <a:stretch/>
        </p:blipFill>
        <p:spPr>
          <a:xfrm>
            <a:off x="853200" y="3867840"/>
            <a:ext cx="2925360" cy="7200"/>
          </a:xfrm>
          <a:prstGeom prst="rect">
            <a:avLst/>
          </a:prstGeom>
          <a:ln w="0">
            <a:noFill/>
          </a:ln>
        </p:spPr>
      </p:pic>
      <p:pic>
        <p:nvPicPr>
          <p:cNvPr id="88" name="Google Shape;63;p14" descr=""/>
          <p:cNvPicPr/>
          <p:nvPr/>
        </p:nvPicPr>
        <p:blipFill>
          <a:blip r:embed="rId3"/>
          <a:stretch/>
        </p:blipFill>
        <p:spPr>
          <a:xfrm>
            <a:off x="725760" y="771480"/>
            <a:ext cx="3124800" cy="728280"/>
          </a:xfrm>
          <a:prstGeom prst="rect">
            <a:avLst/>
          </a:prstGeom>
          <a:ln w="0">
            <a:noFill/>
          </a:ln>
        </p:spPr>
      </p:pic>
      <p:sp>
        <p:nvSpPr>
          <p:cNvPr id="89" name="Google Shape;64;p14"/>
          <p:cNvSpPr/>
          <p:nvPr/>
        </p:nvSpPr>
        <p:spPr>
          <a:xfrm>
            <a:off x="725760" y="1712160"/>
            <a:ext cx="8040600" cy="111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  <a:ea typeface="Arial"/>
              </a:rPr>
              <a:t>Виртуальный тренер: сравнение движений с эталонным видео</a:t>
            </a: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90" name="Google Shape;65;p14"/>
          <p:cNvSpPr/>
          <p:nvPr/>
        </p:nvSpPr>
        <p:spPr>
          <a:xfrm>
            <a:off x="755640" y="3241440"/>
            <a:ext cx="6749280" cy="61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600" spc="-1" strike="noStrike">
                <a:solidFill>
                  <a:srgbClr val="ffffff"/>
                </a:solidFill>
                <a:latin typeface="Roboto"/>
                <a:ea typeface="Roboto"/>
              </a:rPr>
              <a:t>Выполнил: Вохмянин Д.А.</a:t>
            </a:r>
            <a:endParaRPr b="0" lang="ru-RU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600" spc="-1" strike="noStrike">
                <a:solidFill>
                  <a:srgbClr val="ffffff"/>
                </a:solidFill>
                <a:latin typeface="Roboto"/>
                <a:ea typeface="Roboto"/>
              </a:rPr>
              <a:t>Группа: </a:t>
            </a:r>
            <a:r>
              <a:rPr b="0" lang="en-US" sz="1600" spc="-1" strike="noStrike">
                <a:solidFill>
                  <a:srgbClr val="ffffff"/>
                </a:solidFill>
                <a:latin typeface="Roboto"/>
                <a:ea typeface="Roboto"/>
              </a:rPr>
              <a:t>DSPR-1</a:t>
            </a:r>
            <a:r>
              <a:rPr b="0" lang="ru-RU" sz="1600" spc="-1" strike="noStrike">
                <a:solidFill>
                  <a:srgbClr val="ffffff"/>
                </a:solidFill>
                <a:latin typeface="Roboto"/>
                <a:ea typeface="Roboto"/>
              </a:rPr>
              <a:t>71</a:t>
            </a:r>
            <a:endParaRPr b="0" lang="ru-RU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70;p15" descr="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0">
            <a:noFill/>
          </a:ln>
        </p:spPr>
      </p:pic>
      <p:sp>
        <p:nvSpPr>
          <p:cNvPr id="92" name="Google Shape;71;p15"/>
          <p:cNvSpPr/>
          <p:nvPr/>
        </p:nvSpPr>
        <p:spPr>
          <a:xfrm>
            <a:off x="205200" y="196200"/>
            <a:ext cx="3513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pic>
        <p:nvPicPr>
          <p:cNvPr id="93" name="Google Shape;72;p15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8560" cy="244800"/>
          </a:xfrm>
          <a:prstGeom prst="rect">
            <a:avLst/>
          </a:prstGeom>
          <a:ln w="0">
            <a:noFill/>
          </a:ln>
        </p:spPr>
      </p:pic>
      <p:pic>
        <p:nvPicPr>
          <p:cNvPr id="94" name="Google Shape;73;p15" descr=""/>
          <p:cNvPicPr/>
          <p:nvPr/>
        </p:nvPicPr>
        <p:blipFill>
          <a:blip r:embed="rId3"/>
          <a:stretch/>
        </p:blipFill>
        <p:spPr>
          <a:xfrm>
            <a:off x="-1091160" y="474840"/>
            <a:ext cx="2925360" cy="7200"/>
          </a:xfrm>
          <a:prstGeom prst="rect">
            <a:avLst/>
          </a:prstGeom>
          <a:ln w="0">
            <a:noFill/>
          </a:ln>
        </p:spPr>
      </p:pic>
      <p:sp>
        <p:nvSpPr>
          <p:cNvPr id="95" name="Google Shape;74;p15"/>
          <p:cNvSpPr/>
          <p:nvPr/>
        </p:nvSpPr>
        <p:spPr>
          <a:xfrm>
            <a:off x="323640" y="690120"/>
            <a:ext cx="31320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О чём Ваш проект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6" name="Google Shape;75;p15"/>
          <p:cNvSpPr/>
          <p:nvPr/>
        </p:nvSpPr>
        <p:spPr>
          <a:xfrm>
            <a:off x="539640" y="1551960"/>
            <a:ext cx="3526920" cy="106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Google Shape;76;p15"/>
          <p:cNvSpPr/>
          <p:nvPr/>
        </p:nvSpPr>
        <p:spPr>
          <a:xfrm>
            <a:off x="526320" y="1244160"/>
            <a:ext cx="3513240" cy="9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Тема</a:t>
            </a:r>
            <a:r>
              <a:rPr b="1" lang="ru-RU" sz="1200" spc="-1" strike="noStrike">
                <a:solidFill>
                  <a:srgbClr val="000000"/>
                </a:solidFill>
                <a:latin typeface="Roboto"/>
                <a:ea typeface="Roboto"/>
              </a:rPr>
              <a:t>: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0000"/>
                </a:solidFill>
                <a:latin typeface="Roboto"/>
                <a:ea typeface="Roboto"/>
              </a:rPr>
              <a:t>«С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равнение движений на видео с использованием методов компьютерного зрения»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98" name="Google Shape;78;p15"/>
          <p:cNvSpPr/>
          <p:nvPr/>
        </p:nvSpPr>
        <p:spPr>
          <a:xfrm>
            <a:off x="4816440" y="1551960"/>
            <a:ext cx="407448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Google Shape;79;p15"/>
          <p:cNvSpPr/>
          <p:nvPr/>
        </p:nvSpPr>
        <p:spPr>
          <a:xfrm>
            <a:off x="4803480" y="1244160"/>
            <a:ext cx="3513240" cy="11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Цель: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Р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азработка модели, способной сравнивать движения человека на видео с эталонной моделью для оценки качества выполнения упражнений.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100" name="Google Shape;81;p15"/>
          <p:cNvSpPr/>
          <p:nvPr/>
        </p:nvSpPr>
        <p:spPr>
          <a:xfrm>
            <a:off x="539640" y="3393000"/>
            <a:ext cx="352692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Google Shape;82;p15"/>
          <p:cNvSpPr/>
          <p:nvPr/>
        </p:nvSpPr>
        <p:spPr>
          <a:xfrm>
            <a:off x="532800" y="2378520"/>
            <a:ext cx="4275720" cy="23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Актуальность предложения: 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Рост доступности онлайн-обучения и фитнеса требует решений, которые могут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автоматически оценивать технику движений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Использование модели компьютерного зрения позволяет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снизить потребность в постоянном присутствии тренера, 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и, таким образом, соответствующие затраты бизнеса, а также затраты времени потребителя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102" name="Google Shape;84;p15"/>
          <p:cNvSpPr/>
          <p:nvPr/>
        </p:nvSpPr>
        <p:spPr>
          <a:xfrm>
            <a:off x="4501080" y="1347480"/>
            <a:ext cx="69480" cy="6948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Google Shape;85;p15"/>
          <p:cNvSpPr/>
          <p:nvPr/>
        </p:nvSpPr>
        <p:spPr>
          <a:xfrm>
            <a:off x="-73080" y="3056040"/>
            <a:ext cx="4672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91;p16" descr="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0">
            <a:noFill/>
          </a:ln>
        </p:spPr>
      </p:pic>
      <p:pic>
        <p:nvPicPr>
          <p:cNvPr id="105" name="Google Shape;92;p16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8560" cy="244800"/>
          </a:xfrm>
          <a:prstGeom prst="rect">
            <a:avLst/>
          </a:prstGeom>
          <a:ln w="0">
            <a:noFill/>
          </a:ln>
        </p:spPr>
      </p:pic>
      <p:pic>
        <p:nvPicPr>
          <p:cNvPr id="106" name="Google Shape;93;p16" descr=""/>
          <p:cNvPicPr/>
          <p:nvPr/>
        </p:nvPicPr>
        <p:blipFill>
          <a:blip r:embed="rId3"/>
          <a:stretch/>
        </p:blipFill>
        <p:spPr>
          <a:xfrm>
            <a:off x="-659160" y="474840"/>
            <a:ext cx="2925360" cy="7200"/>
          </a:xfrm>
          <a:prstGeom prst="rect">
            <a:avLst/>
          </a:prstGeom>
          <a:ln w="0">
            <a:noFill/>
          </a:ln>
        </p:spPr>
      </p:pic>
      <p:sp>
        <p:nvSpPr>
          <p:cNvPr id="107" name="Google Shape;94;p16"/>
          <p:cNvSpPr/>
          <p:nvPr/>
        </p:nvSpPr>
        <p:spPr>
          <a:xfrm>
            <a:off x="362880" y="1456200"/>
            <a:ext cx="43124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Google Shape;95;p16"/>
          <p:cNvSpPr/>
          <p:nvPr/>
        </p:nvSpPr>
        <p:spPr>
          <a:xfrm>
            <a:off x="284400" y="2523600"/>
            <a:ext cx="4391280" cy="11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</p:txBody>
      </p:sp>
      <p:sp>
        <p:nvSpPr>
          <p:cNvPr id="109" name="Google Shape;96;p16"/>
          <p:cNvSpPr/>
          <p:nvPr/>
        </p:nvSpPr>
        <p:spPr>
          <a:xfrm>
            <a:off x="849240" y="1117800"/>
            <a:ext cx="310968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Продолжительность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10" name="Google Shape;97;p16"/>
          <p:cNvSpPr/>
          <p:nvPr/>
        </p:nvSpPr>
        <p:spPr>
          <a:xfrm>
            <a:off x="876960" y="1463040"/>
            <a:ext cx="29019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050" spc="-1" strike="noStrike">
                <a:solidFill>
                  <a:srgbClr val="000000"/>
                </a:solidFill>
                <a:latin typeface="Roboto"/>
                <a:ea typeface="Roboto"/>
              </a:rPr>
              <a:t>каждого из этапов: </a:t>
            </a:r>
            <a:r>
              <a:rPr b="1" lang="ru-RU" sz="1050" spc="-1" strike="noStrike">
                <a:solidFill>
                  <a:srgbClr val="000000"/>
                </a:solidFill>
                <a:latin typeface="Roboto"/>
                <a:ea typeface="Roboto"/>
              </a:rPr>
              <a:t>по 2 часа на каждый этап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111" name="Google Shape;98;p16"/>
          <p:cNvSpPr/>
          <p:nvPr/>
        </p:nvSpPr>
        <p:spPr>
          <a:xfrm>
            <a:off x="804240" y="2192040"/>
            <a:ext cx="11865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Сроки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12" name="Google Shape;99;p16"/>
          <p:cNvSpPr/>
          <p:nvPr/>
        </p:nvSpPr>
        <p:spPr>
          <a:xfrm>
            <a:off x="849240" y="2558880"/>
            <a:ext cx="23900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050" spc="-1" strike="noStrike">
                <a:solidFill>
                  <a:srgbClr val="000000"/>
                </a:solidFill>
                <a:latin typeface="Roboto"/>
                <a:ea typeface="Roboto"/>
              </a:rPr>
              <a:t>На весь проект: 10 </a:t>
            </a:r>
            <a:r>
              <a:rPr b="1" lang="ru-RU" sz="1050" spc="-1" strike="noStrike">
                <a:solidFill>
                  <a:srgbClr val="000000"/>
                </a:solidFill>
                <a:latin typeface="Roboto"/>
                <a:ea typeface="Roboto"/>
              </a:rPr>
              <a:t>часов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113" name="Google Shape;100;p16"/>
          <p:cNvSpPr/>
          <p:nvPr/>
        </p:nvSpPr>
        <p:spPr>
          <a:xfrm>
            <a:off x="4795200" y="1117800"/>
            <a:ext cx="4227120" cy="39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200" spc="-1" strike="noStrike">
                <a:solidFill>
                  <a:srgbClr val="000000"/>
                </a:solidFill>
                <a:latin typeface="Roboto Black"/>
                <a:ea typeface="Roboto Black"/>
              </a:rPr>
              <a:t>Технические ресурсы 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Оборудование: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Персональный компьютер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с процессором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AMD Ryzen 7 5700X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 видеокартой 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NVIDIA GeForce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R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TX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5070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(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12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GB VRAM)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br/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Программное обеспечение: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Язык: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Python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3.11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Библиотеки: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PyTorch, torchvision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с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CUDA 12.8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для загрузки и использования модели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Keypoint R-CNN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OpenCV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обработка видео и изображений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Matplotlib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визуализация метрик и каркасов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NumPy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основная математика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Git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управление версиями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Инструменты разработки: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Среда разработки: VS Code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Интерфейс: PowerShell / Терминал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</p:txBody>
      </p:sp>
      <p:sp>
        <p:nvSpPr>
          <p:cNvPr id="114" name="Google Shape;101;p16"/>
          <p:cNvSpPr/>
          <p:nvPr/>
        </p:nvSpPr>
        <p:spPr>
          <a:xfrm>
            <a:off x="358920" y="699480"/>
            <a:ext cx="29768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Планирование</a:t>
            </a:r>
            <a:endParaRPr b="0" lang="ru-RU" sz="1800" spc="-1" strike="noStrike">
              <a:latin typeface="Arial"/>
            </a:endParaRPr>
          </a:p>
        </p:txBody>
      </p:sp>
      <p:pic>
        <p:nvPicPr>
          <p:cNvPr id="115" name="Google Shape;102;p16" descr=""/>
          <p:cNvPicPr/>
          <p:nvPr/>
        </p:nvPicPr>
        <p:blipFill>
          <a:blip r:embed="rId4"/>
          <a:stretch/>
        </p:blipFill>
        <p:spPr>
          <a:xfrm>
            <a:off x="4274280" y="1072080"/>
            <a:ext cx="461160" cy="459000"/>
          </a:xfrm>
          <a:prstGeom prst="rect">
            <a:avLst/>
          </a:prstGeom>
          <a:ln w="0">
            <a:noFill/>
          </a:ln>
        </p:spPr>
      </p:pic>
      <p:pic>
        <p:nvPicPr>
          <p:cNvPr id="116" name="Google Shape;103;p16" descr=""/>
          <p:cNvPicPr/>
          <p:nvPr/>
        </p:nvPicPr>
        <p:blipFill>
          <a:blip r:embed="rId5"/>
          <a:stretch/>
        </p:blipFill>
        <p:spPr>
          <a:xfrm>
            <a:off x="402480" y="2163600"/>
            <a:ext cx="444960" cy="444960"/>
          </a:xfrm>
          <a:prstGeom prst="rect">
            <a:avLst/>
          </a:prstGeom>
          <a:ln w="0">
            <a:noFill/>
          </a:ln>
        </p:spPr>
      </p:pic>
      <p:pic>
        <p:nvPicPr>
          <p:cNvPr id="117" name="Google Shape;104;p16" descr=""/>
          <p:cNvPicPr/>
          <p:nvPr/>
        </p:nvPicPr>
        <p:blipFill>
          <a:blip r:embed="rId6"/>
          <a:stretch/>
        </p:blipFill>
        <p:spPr>
          <a:xfrm>
            <a:off x="421560" y="1101600"/>
            <a:ext cx="453960" cy="456120"/>
          </a:xfrm>
          <a:prstGeom prst="rect">
            <a:avLst/>
          </a:prstGeom>
          <a:ln w="0">
            <a:noFill/>
          </a:ln>
        </p:spPr>
      </p:pic>
      <p:sp>
        <p:nvSpPr>
          <p:cNvPr id="118" name="Google Shape;105;p16"/>
          <p:cNvSpPr/>
          <p:nvPr/>
        </p:nvSpPr>
        <p:spPr>
          <a:xfrm>
            <a:off x="205200" y="196200"/>
            <a:ext cx="3513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0;p17" descr="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0">
            <a:noFill/>
          </a:ln>
        </p:spPr>
      </p:pic>
      <p:pic>
        <p:nvPicPr>
          <p:cNvPr id="120" name="Google Shape;111;p17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8560" cy="244800"/>
          </a:xfrm>
          <a:prstGeom prst="rect">
            <a:avLst/>
          </a:prstGeom>
          <a:ln w="0">
            <a:noFill/>
          </a:ln>
        </p:spPr>
      </p:pic>
      <p:sp>
        <p:nvSpPr>
          <p:cNvPr id="121" name="Google Shape;112;p17"/>
          <p:cNvSpPr/>
          <p:nvPr/>
        </p:nvSpPr>
        <p:spPr>
          <a:xfrm>
            <a:off x="395640" y="1004040"/>
            <a:ext cx="4570560" cy="30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Источники данных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Эталонная видеозапись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 загруженная запись с канала «ТРЕНЕР»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Пользовательская видеозапись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 собственная видеозапись выполнения упражнения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Продолжительность видеозаписей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была уменьшена до 15 секунд.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Формат данных: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.mp4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2" name="Google Shape;113;p17"/>
          <p:cNvSpPr/>
          <p:nvPr/>
        </p:nvSpPr>
        <p:spPr>
          <a:xfrm>
            <a:off x="395640" y="3166920"/>
            <a:ext cx="1798920" cy="7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Google Shape;114;p17"/>
          <p:cNvSpPr/>
          <p:nvPr/>
        </p:nvSpPr>
        <p:spPr>
          <a:xfrm>
            <a:off x="413280" y="2643840"/>
            <a:ext cx="2230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Google Shape;115;p17"/>
          <p:cNvSpPr/>
          <p:nvPr/>
        </p:nvSpPr>
        <p:spPr>
          <a:xfrm>
            <a:off x="395640" y="1396440"/>
            <a:ext cx="2230920" cy="255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Google Shape;116;p17" descr=""/>
          <p:cNvPicPr/>
          <p:nvPr/>
        </p:nvPicPr>
        <p:blipFill>
          <a:blip r:embed="rId3"/>
          <a:stretch/>
        </p:blipFill>
        <p:spPr>
          <a:xfrm>
            <a:off x="-1476720" y="474840"/>
            <a:ext cx="2925360" cy="7200"/>
          </a:xfrm>
          <a:prstGeom prst="rect">
            <a:avLst/>
          </a:prstGeom>
          <a:ln w="0">
            <a:noFill/>
          </a:ln>
        </p:spPr>
      </p:pic>
      <p:sp>
        <p:nvSpPr>
          <p:cNvPr id="126" name="Google Shape;117;p17"/>
          <p:cNvSpPr/>
          <p:nvPr/>
        </p:nvSpPr>
        <p:spPr>
          <a:xfrm>
            <a:off x="2483640" y="3363840"/>
            <a:ext cx="187092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Google Shape;118;p17"/>
          <p:cNvSpPr/>
          <p:nvPr/>
        </p:nvSpPr>
        <p:spPr>
          <a:xfrm>
            <a:off x="2501640" y="2643840"/>
            <a:ext cx="1924920" cy="7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Google Shape;119;p17"/>
          <p:cNvSpPr/>
          <p:nvPr/>
        </p:nvSpPr>
        <p:spPr>
          <a:xfrm>
            <a:off x="4644000" y="3363840"/>
            <a:ext cx="1870920" cy="7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Google Shape;120;p17"/>
          <p:cNvSpPr/>
          <p:nvPr/>
        </p:nvSpPr>
        <p:spPr>
          <a:xfrm>
            <a:off x="4662000" y="2643840"/>
            <a:ext cx="2140920" cy="7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Google Shape;121;p17"/>
          <p:cNvSpPr/>
          <p:nvPr/>
        </p:nvSpPr>
        <p:spPr>
          <a:xfrm>
            <a:off x="6804360" y="3166920"/>
            <a:ext cx="1911600" cy="92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Google Shape;122;p17"/>
          <p:cNvSpPr/>
          <p:nvPr/>
        </p:nvSpPr>
        <p:spPr>
          <a:xfrm>
            <a:off x="6822000" y="2643840"/>
            <a:ext cx="2230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Google Shape;123;p17"/>
          <p:cNvSpPr/>
          <p:nvPr/>
        </p:nvSpPr>
        <p:spPr>
          <a:xfrm>
            <a:off x="205200" y="196200"/>
            <a:ext cx="3513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28;p18" descr="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0">
            <a:noFill/>
          </a:ln>
        </p:spPr>
      </p:pic>
      <p:pic>
        <p:nvPicPr>
          <p:cNvPr id="134" name="Google Shape;129;p18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8560" cy="244800"/>
          </a:xfrm>
          <a:prstGeom prst="rect">
            <a:avLst/>
          </a:prstGeom>
          <a:ln w="0">
            <a:noFill/>
          </a:ln>
        </p:spPr>
      </p:pic>
      <p:sp>
        <p:nvSpPr>
          <p:cNvPr id="135" name="Google Shape;130;p18"/>
          <p:cNvSpPr/>
          <p:nvPr/>
        </p:nvSpPr>
        <p:spPr>
          <a:xfrm>
            <a:off x="359640" y="464760"/>
            <a:ext cx="4570560" cy="448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000000"/>
                </a:solidFill>
                <a:latin typeface="Roboto Black"/>
                <a:ea typeface="Roboto Black"/>
              </a:rPr>
              <a:t>Сбор и хранение данных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При записи пользовательского видео использовался максимально схожий с эталоном ракурс камеры. Видео записывалось на смартфон, затем из двух видео были вырезаны фрагменты длительностью 15 секунд с синхронным начальным положением.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Обработка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На каждом кадре с помощью Keypoint R-CNN определяются ключевые точки человека. Для синхронизации кадров двух видео используется линейная интерполяци.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Хранение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В директории </a:t>
            </a:r>
            <a:r>
              <a:rPr b="0" i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data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 - исходные данные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ref.mp4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и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user.mp4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,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в директории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output -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результирующее видео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result.mp4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и метрики качества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metrics.png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36" name="Google Shape;131;p18"/>
          <p:cNvSpPr/>
          <p:nvPr/>
        </p:nvSpPr>
        <p:spPr>
          <a:xfrm>
            <a:off x="395640" y="3166920"/>
            <a:ext cx="1798920" cy="7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Google Shape;132;p18"/>
          <p:cNvSpPr/>
          <p:nvPr/>
        </p:nvSpPr>
        <p:spPr>
          <a:xfrm>
            <a:off x="413280" y="2643840"/>
            <a:ext cx="2230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Google Shape;133;p18"/>
          <p:cNvSpPr/>
          <p:nvPr/>
        </p:nvSpPr>
        <p:spPr>
          <a:xfrm>
            <a:off x="395640" y="1396440"/>
            <a:ext cx="3547080" cy="288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9" name="Google Shape;134;p18" descr=""/>
          <p:cNvPicPr/>
          <p:nvPr/>
        </p:nvPicPr>
        <p:blipFill>
          <a:blip r:embed="rId3"/>
          <a:stretch/>
        </p:blipFill>
        <p:spPr>
          <a:xfrm>
            <a:off x="-1476720" y="474840"/>
            <a:ext cx="2925360" cy="7200"/>
          </a:xfrm>
          <a:prstGeom prst="rect">
            <a:avLst/>
          </a:prstGeom>
          <a:ln w="0">
            <a:noFill/>
          </a:ln>
        </p:spPr>
      </p:pic>
      <p:sp>
        <p:nvSpPr>
          <p:cNvPr id="140" name="Google Shape;135;p18"/>
          <p:cNvSpPr/>
          <p:nvPr/>
        </p:nvSpPr>
        <p:spPr>
          <a:xfrm>
            <a:off x="2483640" y="3363840"/>
            <a:ext cx="187092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Google Shape;136;p18"/>
          <p:cNvSpPr/>
          <p:nvPr/>
        </p:nvSpPr>
        <p:spPr>
          <a:xfrm>
            <a:off x="2501640" y="2643840"/>
            <a:ext cx="1924920" cy="7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Google Shape;137;p18"/>
          <p:cNvSpPr/>
          <p:nvPr/>
        </p:nvSpPr>
        <p:spPr>
          <a:xfrm>
            <a:off x="4644000" y="3363840"/>
            <a:ext cx="1870920" cy="7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Google Shape;138;p18"/>
          <p:cNvSpPr/>
          <p:nvPr/>
        </p:nvSpPr>
        <p:spPr>
          <a:xfrm>
            <a:off x="4662000" y="2643840"/>
            <a:ext cx="2140920" cy="73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Google Shape;139;p18"/>
          <p:cNvSpPr/>
          <p:nvPr/>
        </p:nvSpPr>
        <p:spPr>
          <a:xfrm>
            <a:off x="6804360" y="3166920"/>
            <a:ext cx="1911600" cy="92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Google Shape;140;p18"/>
          <p:cNvSpPr/>
          <p:nvPr/>
        </p:nvSpPr>
        <p:spPr>
          <a:xfrm>
            <a:off x="6822000" y="2643840"/>
            <a:ext cx="2230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Google Shape;141;p18"/>
          <p:cNvSpPr/>
          <p:nvPr/>
        </p:nvSpPr>
        <p:spPr>
          <a:xfrm>
            <a:off x="205200" y="196200"/>
            <a:ext cx="3513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6;p19" descr=""/>
          <p:cNvPicPr/>
          <p:nvPr/>
        </p:nvPicPr>
        <p:blipFill>
          <a:blip r:embed="rId1"/>
          <a:stretch/>
        </p:blipFill>
        <p:spPr>
          <a:xfrm>
            <a:off x="-7920" y="0"/>
            <a:ext cx="9142560" cy="5142240"/>
          </a:xfrm>
          <a:prstGeom prst="rect">
            <a:avLst/>
          </a:prstGeom>
          <a:ln w="0">
            <a:noFill/>
          </a:ln>
        </p:spPr>
      </p:pic>
      <p:pic>
        <p:nvPicPr>
          <p:cNvPr id="148" name="Google Shape;147;p19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8560" cy="244800"/>
          </a:xfrm>
          <a:prstGeom prst="rect">
            <a:avLst/>
          </a:prstGeom>
          <a:ln w="0">
            <a:noFill/>
          </a:ln>
        </p:spPr>
      </p:pic>
      <p:pic>
        <p:nvPicPr>
          <p:cNvPr id="149" name="Google Shape;148;p19" descr=""/>
          <p:cNvPicPr/>
          <p:nvPr/>
        </p:nvPicPr>
        <p:blipFill>
          <a:blip r:embed="rId3"/>
          <a:stretch/>
        </p:blipFill>
        <p:spPr>
          <a:xfrm>
            <a:off x="-803160" y="474840"/>
            <a:ext cx="2925360" cy="7200"/>
          </a:xfrm>
          <a:prstGeom prst="rect">
            <a:avLst/>
          </a:prstGeom>
          <a:ln w="0">
            <a:noFill/>
          </a:ln>
        </p:spPr>
      </p:pic>
      <p:sp>
        <p:nvSpPr>
          <p:cNvPr id="150" name="Google Shape;149;p19"/>
          <p:cNvSpPr/>
          <p:nvPr/>
        </p:nvSpPr>
        <p:spPr>
          <a:xfrm>
            <a:off x="286920" y="690120"/>
            <a:ext cx="55353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Алгоритмы </a:t>
            </a:r>
            <a:r>
              <a:rPr b="0" lang="ru-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 методы </a:t>
            </a: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ИИ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51" name="Google Shape;150;p19"/>
          <p:cNvSpPr/>
          <p:nvPr/>
        </p:nvSpPr>
        <p:spPr>
          <a:xfrm>
            <a:off x="539640" y="1551960"/>
            <a:ext cx="3886920" cy="147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Google Shape;151;p19"/>
          <p:cNvSpPr/>
          <p:nvPr/>
        </p:nvSpPr>
        <p:spPr>
          <a:xfrm>
            <a:off x="526320" y="1244160"/>
            <a:ext cx="35132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Google Shape;152;p19"/>
          <p:cNvSpPr/>
          <p:nvPr/>
        </p:nvSpPr>
        <p:spPr>
          <a:xfrm>
            <a:off x="293760" y="1182600"/>
            <a:ext cx="3017520" cy="12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Keypoint R-CNN (из torchvision)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Используется для извлечения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ключевых точек (поз)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 человека на каждом кадре видео.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Позволяет получить координаты 17 ключевых точек тела человека.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54" name="Google Shape;153;p19"/>
          <p:cNvSpPr/>
          <p:nvPr/>
        </p:nvSpPr>
        <p:spPr>
          <a:xfrm>
            <a:off x="4600440" y="1551960"/>
            <a:ext cx="4403520" cy="92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Google Shape;154;p19"/>
          <p:cNvSpPr/>
          <p:nvPr/>
        </p:nvSpPr>
        <p:spPr>
          <a:xfrm>
            <a:off x="4587480" y="1244160"/>
            <a:ext cx="35132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Google Shape;155;p19"/>
          <p:cNvSpPr/>
          <p:nvPr/>
        </p:nvSpPr>
        <p:spPr>
          <a:xfrm>
            <a:off x="293760" y="2562840"/>
            <a:ext cx="3512880" cy="123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Аффинное преобразование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Применяется для приведения ключевых точек пользователя к системе координат эталона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(учитывает масштаб, поворот, смещение).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57" name="Google Shape;156;p19"/>
          <p:cNvSpPr/>
          <p:nvPr/>
        </p:nvSpPr>
        <p:spPr>
          <a:xfrm>
            <a:off x="539640" y="3543840"/>
            <a:ext cx="3526920" cy="12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Google Shape;157;p19"/>
          <p:cNvSpPr/>
          <p:nvPr/>
        </p:nvSpPr>
        <p:spPr>
          <a:xfrm>
            <a:off x="526320" y="3065400"/>
            <a:ext cx="42757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158;p19"/>
          <p:cNvSpPr/>
          <p:nvPr/>
        </p:nvSpPr>
        <p:spPr>
          <a:xfrm>
            <a:off x="4428000" y="1244160"/>
            <a:ext cx="2952720" cy="99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Косинусное сходство поз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Вычисляет, насколько совпадает форма и ориентация тела (насколько совпадают направления векторов координат всех ключевых точек).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60" name="Google Shape;159;p19"/>
          <p:cNvSpPr/>
          <p:nvPr/>
        </p:nvSpPr>
        <p:spPr>
          <a:xfrm>
            <a:off x="4816440" y="3579840"/>
            <a:ext cx="4074480" cy="71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Google Shape;160;p19"/>
          <p:cNvSpPr/>
          <p:nvPr/>
        </p:nvSpPr>
        <p:spPr>
          <a:xfrm>
            <a:off x="4803480" y="3065400"/>
            <a:ext cx="40874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Google Shape;161;p19"/>
          <p:cNvSpPr/>
          <p:nvPr/>
        </p:nvSpPr>
        <p:spPr>
          <a:xfrm>
            <a:off x="4464360" y="2561040"/>
            <a:ext cx="3397680" cy="155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Взвешенное расстояние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Определяет, насколько далеко поза пользователя ушла от эталонной (среднее абсолютное отклонение координат ключевых точек в пикселях после выравнивания).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-73080" y="3035880"/>
            <a:ext cx="46728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Google Shape;165;p19"/>
          <p:cNvSpPr/>
          <p:nvPr/>
        </p:nvSpPr>
        <p:spPr>
          <a:xfrm>
            <a:off x="205200" y="196200"/>
            <a:ext cx="3513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65" name="Прямоугольник 1"/>
          <p:cNvSpPr/>
          <p:nvPr/>
        </p:nvSpPr>
        <p:spPr>
          <a:xfrm>
            <a:off x="323640" y="3712680"/>
            <a:ext cx="295272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Графическая визуализация результатов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Наложение текущих значений метрик и ключевых точек тренера на каждый кадр пользовательского видео.</a:t>
            </a:r>
            <a:endParaRPr b="0" lang="ru-RU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70;p20" descr="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0">
            <a:noFill/>
          </a:ln>
        </p:spPr>
      </p:pic>
      <p:pic>
        <p:nvPicPr>
          <p:cNvPr id="167" name="Google Shape;171;p20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8560" cy="244800"/>
          </a:xfrm>
          <a:prstGeom prst="rect">
            <a:avLst/>
          </a:prstGeom>
          <a:ln w="0">
            <a:noFill/>
          </a:ln>
        </p:spPr>
      </p:pic>
      <p:pic>
        <p:nvPicPr>
          <p:cNvPr id="168" name="Google Shape;172;p20" descr=""/>
          <p:cNvPicPr/>
          <p:nvPr/>
        </p:nvPicPr>
        <p:blipFill>
          <a:blip r:embed="rId3"/>
          <a:stretch/>
        </p:blipFill>
        <p:spPr>
          <a:xfrm>
            <a:off x="-1836720" y="474840"/>
            <a:ext cx="2925360" cy="7200"/>
          </a:xfrm>
          <a:prstGeom prst="rect">
            <a:avLst/>
          </a:prstGeom>
          <a:ln w="0">
            <a:noFill/>
          </a:ln>
        </p:spPr>
      </p:pic>
      <p:sp>
        <p:nvSpPr>
          <p:cNvPr id="169" name="Google Shape;173;p20"/>
          <p:cNvSpPr/>
          <p:nvPr/>
        </p:nvSpPr>
        <p:spPr>
          <a:xfrm>
            <a:off x="323640" y="555480"/>
            <a:ext cx="424728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Технологический стек для проекта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70" name="Google Shape;174;p20"/>
          <p:cNvSpPr/>
          <p:nvPr/>
        </p:nvSpPr>
        <p:spPr>
          <a:xfrm>
            <a:off x="539640" y="1715040"/>
            <a:ext cx="266292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Google Shape;175;p20"/>
          <p:cNvSpPr/>
          <p:nvPr/>
        </p:nvSpPr>
        <p:spPr>
          <a:xfrm>
            <a:off x="526320" y="1244160"/>
            <a:ext cx="22442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Google Shape;176;p20"/>
          <p:cNvSpPr/>
          <p:nvPr/>
        </p:nvSpPr>
        <p:spPr>
          <a:xfrm>
            <a:off x="205200" y="1850400"/>
            <a:ext cx="2521080" cy="8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💻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Язык программирования: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Python 3.11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 — основной язык разработки и анализа данных.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900" spc="-1" strike="noStrike">
              <a:latin typeface="Arial"/>
            </a:endParaRPr>
          </a:p>
        </p:txBody>
      </p:sp>
      <p:sp>
        <p:nvSpPr>
          <p:cNvPr id="173" name="Google Shape;177;p20"/>
          <p:cNvSpPr/>
          <p:nvPr/>
        </p:nvSpPr>
        <p:spPr>
          <a:xfrm>
            <a:off x="3376440" y="1715040"/>
            <a:ext cx="241956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Google Shape;178;p20"/>
          <p:cNvSpPr/>
          <p:nvPr/>
        </p:nvSpPr>
        <p:spPr>
          <a:xfrm>
            <a:off x="3363120" y="1244160"/>
            <a:ext cx="22874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Google Shape;179;p20"/>
          <p:cNvSpPr/>
          <p:nvPr/>
        </p:nvSpPr>
        <p:spPr>
          <a:xfrm>
            <a:off x="4644000" y="1182600"/>
            <a:ext cx="2607480" cy="179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📚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Библиотеки и фреймворки: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PyTorch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, </a:t>
            </a: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Torchvision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с поддержкой </a:t>
            </a: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CUDA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загрузка и использование модели 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Keypoint R-CNN;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OpenCV, PIL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извлечение кадров, работа с видео;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Matplotlib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визуализация результатов и графиков;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NumPy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векторные и матричные вычисления.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900" spc="-1" strike="noStrike">
              <a:latin typeface="Arial"/>
            </a:endParaRPr>
          </a:p>
        </p:txBody>
      </p:sp>
      <p:sp>
        <p:nvSpPr>
          <p:cNvPr id="176" name="Google Shape;180;p20"/>
          <p:cNvSpPr/>
          <p:nvPr/>
        </p:nvSpPr>
        <p:spPr>
          <a:xfrm>
            <a:off x="4570920" y="302400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Google Shape;181;p20"/>
          <p:cNvSpPr/>
          <p:nvPr/>
        </p:nvSpPr>
        <p:spPr>
          <a:xfrm>
            <a:off x="2483640" y="1198080"/>
            <a:ext cx="89100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183;p20"/>
          <p:cNvSpPr/>
          <p:nvPr/>
        </p:nvSpPr>
        <p:spPr>
          <a:xfrm>
            <a:off x="8215920" y="1203480"/>
            <a:ext cx="16113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Google Shape;186;p20"/>
          <p:cNvSpPr/>
          <p:nvPr/>
        </p:nvSpPr>
        <p:spPr>
          <a:xfrm>
            <a:off x="5436000" y="1203480"/>
            <a:ext cx="50256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Google Shape;188;p20"/>
          <p:cNvSpPr/>
          <p:nvPr/>
        </p:nvSpPr>
        <p:spPr>
          <a:xfrm>
            <a:off x="6112800" y="1722960"/>
            <a:ext cx="241848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Google Shape;189;p20"/>
          <p:cNvSpPr/>
          <p:nvPr/>
        </p:nvSpPr>
        <p:spPr>
          <a:xfrm>
            <a:off x="6099480" y="1252080"/>
            <a:ext cx="22874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Google Shape;190;p20"/>
          <p:cNvSpPr/>
          <p:nvPr/>
        </p:nvSpPr>
        <p:spPr>
          <a:xfrm>
            <a:off x="5866920" y="1190520"/>
            <a:ext cx="3164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Google Shape;191;p20"/>
          <p:cNvSpPr/>
          <p:nvPr/>
        </p:nvSpPr>
        <p:spPr>
          <a:xfrm>
            <a:off x="526320" y="2831400"/>
            <a:ext cx="266292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Google Shape;192;p20"/>
          <p:cNvSpPr/>
          <p:nvPr/>
        </p:nvSpPr>
        <p:spPr>
          <a:xfrm>
            <a:off x="526320" y="2526840"/>
            <a:ext cx="22442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Google Shape;193;p20"/>
          <p:cNvSpPr/>
          <p:nvPr/>
        </p:nvSpPr>
        <p:spPr>
          <a:xfrm>
            <a:off x="205200" y="1173600"/>
            <a:ext cx="196488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🧪 </a:t>
            </a: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Среда разработки: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Visual Studio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Code</a:t>
            </a:r>
            <a:endParaRPr b="0" lang="ru-RU" sz="1000" spc="-1" strike="noStrike">
              <a:latin typeface="Arial"/>
            </a:endParaRPr>
          </a:p>
        </p:txBody>
      </p:sp>
      <p:sp>
        <p:nvSpPr>
          <p:cNvPr id="186" name="Google Shape;194;p20"/>
          <p:cNvSpPr/>
          <p:nvPr/>
        </p:nvSpPr>
        <p:spPr>
          <a:xfrm>
            <a:off x="3376440" y="2997720"/>
            <a:ext cx="2419560" cy="7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Google Shape;195;p20"/>
          <p:cNvSpPr/>
          <p:nvPr/>
        </p:nvSpPr>
        <p:spPr>
          <a:xfrm>
            <a:off x="3363120" y="2526840"/>
            <a:ext cx="22874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Google Shape;196;p20"/>
          <p:cNvSpPr/>
          <p:nvPr/>
        </p:nvSpPr>
        <p:spPr>
          <a:xfrm>
            <a:off x="4658040" y="2976120"/>
            <a:ext cx="2304000" cy="102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⚙️ </a:t>
            </a: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Инструменты: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Git</a:t>
            </a:r>
            <a:r>
              <a:rPr b="0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 — контроль версий;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PowerShell / Терминал</a:t>
            </a:r>
            <a:r>
              <a:rPr b="0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 — выполнение скриптов.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000" spc="-1" strike="noStrike">
              <a:latin typeface="Arial"/>
            </a:endParaRPr>
          </a:p>
        </p:txBody>
      </p:sp>
      <p:sp>
        <p:nvSpPr>
          <p:cNvPr id="189" name="Google Shape;202;p20"/>
          <p:cNvSpPr/>
          <p:nvPr/>
        </p:nvSpPr>
        <p:spPr>
          <a:xfrm>
            <a:off x="6112800" y="3005640"/>
            <a:ext cx="2634480" cy="7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</p:txBody>
      </p:sp>
      <p:sp>
        <p:nvSpPr>
          <p:cNvPr id="190" name="Google Shape;203;p20"/>
          <p:cNvSpPr/>
          <p:nvPr/>
        </p:nvSpPr>
        <p:spPr>
          <a:xfrm>
            <a:off x="6099480" y="2534760"/>
            <a:ext cx="22874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Google Shape;205;p20"/>
          <p:cNvSpPr/>
          <p:nvPr/>
        </p:nvSpPr>
        <p:spPr>
          <a:xfrm>
            <a:off x="4570920" y="4269960"/>
            <a:ext cx="1832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Google Shape;208;p20"/>
          <p:cNvSpPr/>
          <p:nvPr/>
        </p:nvSpPr>
        <p:spPr>
          <a:xfrm>
            <a:off x="507960" y="4281120"/>
            <a:ext cx="266292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Google Shape;209;p20"/>
          <p:cNvSpPr/>
          <p:nvPr/>
        </p:nvSpPr>
        <p:spPr>
          <a:xfrm>
            <a:off x="526320" y="3773160"/>
            <a:ext cx="22442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Google Shape;211;p20"/>
          <p:cNvSpPr/>
          <p:nvPr/>
        </p:nvSpPr>
        <p:spPr>
          <a:xfrm>
            <a:off x="3376440" y="4269960"/>
            <a:ext cx="267264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Google Shape;212;p20"/>
          <p:cNvSpPr/>
          <p:nvPr/>
        </p:nvSpPr>
        <p:spPr>
          <a:xfrm>
            <a:off x="3363120" y="3773160"/>
            <a:ext cx="228744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Google Shape;218;p20"/>
          <p:cNvSpPr/>
          <p:nvPr/>
        </p:nvSpPr>
        <p:spPr>
          <a:xfrm>
            <a:off x="6194880" y="4042440"/>
            <a:ext cx="263448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Google Shape;219;p20"/>
          <p:cNvSpPr/>
          <p:nvPr/>
        </p:nvSpPr>
        <p:spPr>
          <a:xfrm>
            <a:off x="6194880" y="3758040"/>
            <a:ext cx="298404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Google Shape;221;p20"/>
          <p:cNvSpPr/>
          <p:nvPr/>
        </p:nvSpPr>
        <p:spPr>
          <a:xfrm>
            <a:off x="205200" y="196200"/>
            <a:ext cx="3513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226;p21" descr=""/>
          <p:cNvPicPr/>
          <p:nvPr/>
        </p:nvPicPr>
        <p:blipFill>
          <a:blip r:embed="rId1"/>
          <a:stretch/>
        </p:blipFill>
        <p:spPr>
          <a:xfrm>
            <a:off x="0" y="0"/>
            <a:ext cx="9142560" cy="5142240"/>
          </a:xfrm>
          <a:prstGeom prst="rect">
            <a:avLst/>
          </a:prstGeom>
          <a:ln w="0">
            <a:noFill/>
          </a:ln>
        </p:spPr>
      </p:pic>
      <p:pic>
        <p:nvPicPr>
          <p:cNvPr id="200" name="Google Shape;227;p21" descr=""/>
          <p:cNvPicPr/>
          <p:nvPr/>
        </p:nvPicPr>
        <p:blipFill>
          <a:blip r:embed="rId2"/>
          <a:stretch/>
        </p:blipFill>
        <p:spPr>
          <a:xfrm>
            <a:off x="-1260720" y="474840"/>
            <a:ext cx="2925360" cy="7200"/>
          </a:xfrm>
          <a:prstGeom prst="rect">
            <a:avLst/>
          </a:prstGeom>
          <a:ln w="0">
            <a:noFill/>
          </a:ln>
        </p:spPr>
      </p:pic>
      <p:pic>
        <p:nvPicPr>
          <p:cNvPr id="201" name="Google Shape;228;p21" descr=""/>
          <p:cNvPicPr/>
          <p:nvPr/>
        </p:nvPicPr>
        <p:blipFill>
          <a:blip r:embed="rId3"/>
          <a:stretch/>
        </p:blipFill>
        <p:spPr>
          <a:xfrm>
            <a:off x="7821000" y="195480"/>
            <a:ext cx="1061280" cy="24660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229;p21"/>
          <p:cNvSpPr/>
          <p:nvPr/>
        </p:nvSpPr>
        <p:spPr>
          <a:xfrm>
            <a:off x="611640" y="1131480"/>
            <a:ext cx="4570560" cy="82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ffffff"/>
                </a:solidFill>
                <a:latin typeface="Roboto Black"/>
                <a:ea typeface="Roboto Black"/>
              </a:rPr>
              <a:t>Метрики успешности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203" name="Google Shape;230;p21"/>
          <p:cNvSpPr/>
          <p:nvPr/>
        </p:nvSpPr>
        <p:spPr>
          <a:xfrm>
            <a:off x="611640" y="1995840"/>
            <a:ext cx="2230920" cy="30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Google Shape;231;p21"/>
          <p:cNvSpPr/>
          <p:nvPr/>
        </p:nvSpPr>
        <p:spPr>
          <a:xfrm>
            <a:off x="683640" y="2624760"/>
            <a:ext cx="1726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Google Shape;232;p21"/>
          <p:cNvSpPr/>
          <p:nvPr/>
        </p:nvSpPr>
        <p:spPr>
          <a:xfrm>
            <a:off x="3780000" y="2624760"/>
            <a:ext cx="1726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Google Shape;233;p21"/>
          <p:cNvSpPr/>
          <p:nvPr/>
        </p:nvSpPr>
        <p:spPr>
          <a:xfrm>
            <a:off x="6732360" y="2624760"/>
            <a:ext cx="1726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Google Shape;234;p21"/>
          <p:cNvSpPr/>
          <p:nvPr/>
        </p:nvSpPr>
        <p:spPr>
          <a:xfrm>
            <a:off x="3804480" y="3890520"/>
            <a:ext cx="1726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235;p21"/>
          <p:cNvSpPr/>
          <p:nvPr/>
        </p:nvSpPr>
        <p:spPr>
          <a:xfrm>
            <a:off x="6732360" y="3863160"/>
            <a:ext cx="1726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Google Shape;236;p21"/>
          <p:cNvSpPr/>
          <p:nvPr/>
        </p:nvSpPr>
        <p:spPr>
          <a:xfrm>
            <a:off x="755640" y="2427840"/>
            <a:ext cx="142560" cy="14256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Google Shape;237;p21"/>
          <p:cNvSpPr/>
          <p:nvPr/>
        </p:nvSpPr>
        <p:spPr>
          <a:xfrm>
            <a:off x="3852000" y="2427840"/>
            <a:ext cx="142560" cy="14256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Google Shape;238;p21"/>
          <p:cNvSpPr/>
          <p:nvPr/>
        </p:nvSpPr>
        <p:spPr>
          <a:xfrm>
            <a:off x="6804360" y="2427840"/>
            <a:ext cx="142560" cy="14256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Google Shape;239;p21"/>
          <p:cNvSpPr/>
          <p:nvPr/>
        </p:nvSpPr>
        <p:spPr>
          <a:xfrm>
            <a:off x="3852000" y="3665880"/>
            <a:ext cx="142560" cy="14256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Google Shape;240;p21"/>
          <p:cNvSpPr/>
          <p:nvPr/>
        </p:nvSpPr>
        <p:spPr>
          <a:xfrm>
            <a:off x="6807960" y="3665880"/>
            <a:ext cx="142560" cy="14256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Google Shape;241;p21"/>
          <p:cNvSpPr/>
          <p:nvPr/>
        </p:nvSpPr>
        <p:spPr>
          <a:xfrm>
            <a:off x="683640" y="3863160"/>
            <a:ext cx="172692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Google Shape;242;p21"/>
          <p:cNvSpPr/>
          <p:nvPr/>
        </p:nvSpPr>
        <p:spPr>
          <a:xfrm>
            <a:off x="755640" y="3666240"/>
            <a:ext cx="142560" cy="14256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Google Shape;243;p21"/>
          <p:cNvSpPr/>
          <p:nvPr/>
        </p:nvSpPr>
        <p:spPr>
          <a:xfrm>
            <a:off x="205200" y="196200"/>
            <a:ext cx="35132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ffffff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graphicFrame>
        <p:nvGraphicFramePr>
          <p:cNvPr id="217" name="Таблица 3"/>
          <p:cNvGraphicFramePr/>
          <p:nvPr/>
        </p:nvGraphicFramePr>
        <p:xfrm>
          <a:off x="5364360" y="1044720"/>
          <a:ext cx="3655800" cy="2214000"/>
        </p:xfrm>
        <a:graphic>
          <a:graphicData uri="http://schemas.openxmlformats.org/drawingml/2006/table">
            <a:tbl>
              <a:tblPr/>
              <a:tblGrid>
                <a:gridCol w="1828080"/>
                <a:gridCol w="1828080"/>
              </a:tblGrid>
              <a:tr h="5108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Метрика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Значение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  <a:tr h="851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Косинусное сходство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0.99</a:t>
                      </a: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82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  <a:tr h="851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Взвешенное расстояние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44</a:t>
                      </a:r>
                      <a:r>
                        <a:rPr b="1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.</a:t>
                      </a: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64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</a:tbl>
          </a:graphicData>
        </a:graphic>
      </p:graphicFrame>
      <p:sp>
        <p:nvSpPr>
          <p:cNvPr id="218" name="Rectangle 2"/>
          <p:cNvSpPr/>
          <p:nvPr/>
        </p:nvSpPr>
        <p:spPr>
          <a:xfrm>
            <a:off x="402480" y="3866760"/>
            <a:ext cx="838836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  <a:ea typeface="Arial"/>
              </a:rPr>
              <a:t>Вывод: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000" spc="-1" strike="noStrike">
                <a:solidFill>
                  <a:srgbClr val="ffffff"/>
                </a:solidFill>
                <a:latin typeface="Arial"/>
                <a:ea typeface="Arial"/>
              </a:rPr>
              <a:t>По графикам можно видеть, что первые 9 секунд пользователь достаточно точно воспроизвёл движения тренера. Косинусное сходство (направление движений) выше 0.998, а взвешенное расстояние не превышает 40 (абсолютное отклонение положения). Затем точность несколько снижается, и если направление движений в целом совпадает (косинусное сходство 0.990 в худшем случае), то положение точек значительно отклонилось (взвешенное расстояние 125 в худшем случае). Таким образом, на итоговую оценку «Средне» значительно повлияли последние 5 секунд выполнения упражнения.</a:t>
            </a:r>
            <a:endParaRPr b="0" lang="ru-RU" sz="1000" spc="-1" strike="noStrike">
              <a:latin typeface="Arial"/>
            </a:endParaRPr>
          </a:p>
        </p:txBody>
      </p:sp>
      <p:pic>
        <p:nvPicPr>
          <p:cNvPr id="219" name="Рисунок 1" descr=""/>
          <p:cNvPicPr/>
          <p:nvPr/>
        </p:nvPicPr>
        <p:blipFill>
          <a:blip r:embed="rId4"/>
          <a:stretch/>
        </p:blipFill>
        <p:spPr>
          <a:xfrm>
            <a:off x="402480" y="1040040"/>
            <a:ext cx="4890600" cy="22179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144</TotalTime>
  <Application>LibreOffice/7.3.1.3$Windows_X86_64 LibreOffice_project/a69ca51ded25f3eefd52d7bf9a5fad8c90b87951</Application>
  <AppVersion>15.0000</AppVersion>
  <Words>510</Words>
  <Paragraphs>90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admin</dc:creator>
  <dc:description/>
  <dc:language>ru-RU</dc:language>
  <cp:lastModifiedBy/>
  <dcterms:modified xsi:type="dcterms:W3CDTF">2026-03-16T19:05:38Z</dcterms:modified>
  <cp:revision>52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Экран (16:9)</vt:lpwstr>
  </property>
  <property fmtid="{D5CDD505-2E9C-101B-9397-08002B2CF9AE}" pid="4" name="Slides">
    <vt:i4>8</vt:i4>
  </property>
</Properties>
</file>