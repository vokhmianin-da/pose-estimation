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28.png" ContentType="image/png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jpeg" ContentType="image/jpe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jpeg" ContentType="image/jpeg"/>
  <Override PartName="/ppt/media/image14.png" ContentType="image/png"/>
  <Override PartName="/ppt/media/image15.png" ContentType="image/png"/>
  <Override PartName="/ppt/media/image16.jpeg" ContentType="image/jpeg"/>
  <Override PartName="/ppt/media/image17.png" ContentType="image/png"/>
  <Override PartName="/ppt/media/image18.png" ContentType="image/png"/>
  <Override PartName="/ppt/media/image19.jpeg" ContentType="image/jpeg"/>
  <Override PartName="/ppt/media/image20.png" ContentType="image/png"/>
  <Override PartName="/ppt/media/image21.png" ContentType="image/png"/>
  <Override PartName="/ppt/media/image22.jpeg" ContentType="image/jpeg"/>
  <Override PartName="/ppt/media/image23.png" ContentType="image/png"/>
  <Override PartName="/ppt/media/image24.png" ContentType="image/png"/>
  <Override PartName="/ppt/media/image25.jpeg" ContentType="image/jpeg"/>
  <Override PartName="/ppt/media/image27.png" ContentType="image/png"/>
  <Override PartName="/ppt/media/image2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C4E0869-39A1-4C83-A88F-FCE4B40D454F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31DB460-B3FC-4502-A1DC-F57C5ABCD244}" type="slidenum">
              <a:rPr b="0" lang="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60980E3-F0A5-4E33-B070-72CFFDCDE77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688D8C0-3DB2-4555-B52D-82C7E92C031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575756-A10F-49F1-B4EF-68933090EB4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A8F7AEB-C546-4D94-BABD-346E1E50B69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24A45FD-C018-4EED-8B8A-21CA32778FF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19400" cy="951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390BD79-184B-4B37-AE6E-CF289B6B1E40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773347-8EA0-4F8B-908C-E9A90383D52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46873F2-4176-4B24-B4D1-DC6C58F2615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C4EB9BD-B7E4-42B0-BB3E-F9E60F173B14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5E5DD22-83F7-4E6C-B879-31DCFC489BD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606952-C5BC-472E-9621-8B61D0E077C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90141E-6537-451A-8FD8-6FD41D0D159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9FC2C-C97E-4EAC-B55F-69F59014DD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163FA-4118-45C8-B1E5-FDFE544D0F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B6929C-61E6-4E2B-B4CA-B716DA08DB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AD1D6-1133-4686-94D7-0993EFD9C7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69BBCA-F78A-4B31-AF14-04647A5B14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19400" cy="951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AC74C-3405-469C-92D8-31F0193E85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80F7B-F617-488D-9C55-75518772AA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5A58D2-B245-4FF0-8AE3-45921A55D0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02E2C-FEF5-475B-81B2-AC7CC6BB5C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7C0EB8-D3E1-46E9-9CE1-94A0A89814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8A05D-96E4-43DB-9642-681A364CDB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02A54C-A33D-4D0F-8BFB-C7D6B99D8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E81BD27-64A8-4C39-8534-B6D1A682811D}" type="slidenum">
              <a:rPr b="0" lang="ru" sz="1000" spc="-1" strike="noStrike">
                <a:solidFill>
                  <a:srgbClr val="595959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44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A9BBA6A-C0F8-4253-8EBA-8147F854D7E9}" type="slidenum">
              <a:rPr b="0" lang="ru" sz="900" spc="-1" strike="noStrike">
                <a:solidFill>
                  <a:srgbClr val="888888"/>
                </a:solidFill>
                <a:latin typeface="Calibri"/>
                <a:ea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264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61;p14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62;p14" descr=""/>
          <p:cNvPicPr/>
          <p:nvPr/>
        </p:nvPicPr>
        <p:blipFill>
          <a:blip r:embed="rId2"/>
          <a:stretch/>
        </p:blipFill>
        <p:spPr>
          <a:xfrm>
            <a:off x="853200" y="3867840"/>
            <a:ext cx="2925720" cy="756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63;p14" descr=""/>
          <p:cNvPicPr/>
          <p:nvPr/>
        </p:nvPicPr>
        <p:blipFill>
          <a:blip r:embed="rId3"/>
          <a:stretch/>
        </p:blipFill>
        <p:spPr>
          <a:xfrm>
            <a:off x="725760" y="771480"/>
            <a:ext cx="3125160" cy="728640"/>
          </a:xfrm>
          <a:prstGeom prst="rect">
            <a:avLst/>
          </a:prstGeom>
          <a:ln w="0">
            <a:noFill/>
          </a:ln>
        </p:spPr>
      </p:pic>
      <p:sp>
        <p:nvSpPr>
          <p:cNvPr id="89" name="Google Shape;64;p14"/>
          <p:cNvSpPr/>
          <p:nvPr/>
        </p:nvSpPr>
        <p:spPr>
          <a:xfrm>
            <a:off x="725760" y="1712160"/>
            <a:ext cx="8040960" cy="11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ffffff"/>
                </a:solidFill>
                <a:latin typeface="Arial"/>
                <a:ea typeface="Arial"/>
              </a:rPr>
              <a:t>Виртуальный тренер: сравнение движений с эталонным видео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90" name="Google Shape;65;p14"/>
          <p:cNvSpPr/>
          <p:nvPr/>
        </p:nvSpPr>
        <p:spPr>
          <a:xfrm>
            <a:off x="755640" y="3241440"/>
            <a:ext cx="6749640" cy="6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pc="-1" strike="noStrike">
                <a:solidFill>
                  <a:srgbClr val="ffffff"/>
                </a:solidFill>
                <a:latin typeface="Roboto"/>
                <a:ea typeface="Roboto"/>
              </a:rPr>
              <a:t>Выполнил: Вохмянин Д.А.</a:t>
            </a:r>
            <a:endParaRPr b="0" lang="ru-RU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600" spc="-1" strike="noStrike">
                <a:solidFill>
                  <a:srgbClr val="ffffff"/>
                </a:solidFill>
                <a:latin typeface="Roboto"/>
                <a:ea typeface="Roboto"/>
              </a:rPr>
              <a:t>Группа: </a:t>
            </a:r>
            <a:r>
              <a:rPr b="0" lang="en-US" sz="1600" spc="-1" strike="noStrike">
                <a:solidFill>
                  <a:srgbClr val="ffffff"/>
                </a:solidFill>
                <a:latin typeface="Roboto"/>
                <a:ea typeface="Roboto"/>
              </a:rPr>
              <a:t>DSPR-1</a:t>
            </a:r>
            <a:r>
              <a:rPr b="0" lang="ru-RU" sz="1600" spc="-1" strike="noStrike">
                <a:solidFill>
                  <a:srgbClr val="ffffff"/>
                </a:solidFill>
                <a:latin typeface="Roboto"/>
                <a:ea typeface="Roboto"/>
              </a:rPr>
              <a:t>82</a:t>
            </a:r>
            <a:endParaRPr b="0" lang="ru-RU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70;p15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71;p15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000000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  <p:pic>
        <p:nvPicPr>
          <p:cNvPr id="93" name="Google Shape;72;p15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73;p15" descr=""/>
          <p:cNvPicPr/>
          <p:nvPr/>
        </p:nvPicPr>
        <p:blipFill>
          <a:blip r:embed="rId3"/>
          <a:stretch/>
        </p:blipFill>
        <p:spPr>
          <a:xfrm>
            <a:off x="-109116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95" name="Google Shape;74;p15"/>
          <p:cNvSpPr/>
          <p:nvPr/>
        </p:nvSpPr>
        <p:spPr>
          <a:xfrm>
            <a:off x="323640" y="690120"/>
            <a:ext cx="313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О чём Ваш проект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96" name="Google Shape;75;p15"/>
          <p:cNvSpPr/>
          <p:nvPr/>
        </p:nvSpPr>
        <p:spPr>
          <a:xfrm>
            <a:off x="539640" y="1551960"/>
            <a:ext cx="3527280" cy="10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76;p15"/>
          <p:cNvSpPr/>
          <p:nvPr/>
        </p:nvSpPr>
        <p:spPr>
          <a:xfrm>
            <a:off x="526320" y="1244160"/>
            <a:ext cx="35136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" sz="1200" spc="-1" strike="noStrike">
                <a:solidFill>
                  <a:srgbClr val="000000"/>
                </a:solidFill>
                <a:latin typeface="Roboto"/>
                <a:ea typeface="Roboto"/>
              </a:rPr>
              <a:t>Тема</a:t>
            </a:r>
            <a:r>
              <a:rPr b="1" lang="ru-RU" sz="1200" spc="-1" strike="noStrike">
                <a:solidFill>
                  <a:srgbClr val="000000"/>
                </a:solidFill>
                <a:latin typeface="Roboto"/>
                <a:ea typeface="Roboto"/>
              </a:rPr>
              <a:t>: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000000"/>
                </a:solidFill>
                <a:latin typeface="Roboto"/>
                <a:ea typeface="Roboto"/>
              </a:rPr>
              <a:t>«С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равнение движений на видео с использованием методов компьютерного зрения»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</p:txBody>
      </p:sp>
      <p:sp>
        <p:nvSpPr>
          <p:cNvPr id="98" name="Google Shape;78;p15"/>
          <p:cNvSpPr/>
          <p:nvPr/>
        </p:nvSpPr>
        <p:spPr>
          <a:xfrm>
            <a:off x="4816440" y="1551960"/>
            <a:ext cx="407484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Google Shape;79;p15"/>
          <p:cNvSpPr/>
          <p:nvPr/>
        </p:nvSpPr>
        <p:spPr>
          <a:xfrm>
            <a:off x="4803480" y="1244160"/>
            <a:ext cx="351360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" sz="1200" spc="-1" strike="noStrike">
                <a:solidFill>
                  <a:srgbClr val="000000"/>
                </a:solidFill>
                <a:latin typeface="Roboto"/>
                <a:ea typeface="Roboto"/>
              </a:rPr>
              <a:t>Цель: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" sz="12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азработка модели, способной сравнивать движения человека на видео с эталонной моделью для оценки качества выполнения упражнений.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</p:txBody>
      </p:sp>
      <p:sp>
        <p:nvSpPr>
          <p:cNvPr id="100" name="Google Shape;81;p15"/>
          <p:cNvSpPr/>
          <p:nvPr/>
        </p:nvSpPr>
        <p:spPr>
          <a:xfrm>
            <a:off x="539640" y="3393000"/>
            <a:ext cx="352728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Google Shape;82;p15"/>
          <p:cNvSpPr/>
          <p:nvPr/>
        </p:nvSpPr>
        <p:spPr>
          <a:xfrm>
            <a:off x="532800" y="2378520"/>
            <a:ext cx="4276080" cy="23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200" spc="-1" strike="noStrike">
                <a:solidFill>
                  <a:srgbClr val="000000"/>
                </a:solidFill>
                <a:latin typeface="Roboto"/>
                <a:ea typeface="Roboto"/>
              </a:rPr>
              <a:t>Актуальность предложения: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Рост доступности онлайн-обучения и фитнеса требует решений, которые могут </a:t>
            </a: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автоматически оценивать технику движений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Использование модели компьютерного зрения позволяет </a:t>
            </a: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снизить потребность в постоянном присутствии тренера,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и, таким образом, соответствующие затраты бизнеса, а также затраты времени потребителя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</p:txBody>
      </p:sp>
      <p:sp>
        <p:nvSpPr>
          <p:cNvPr id="102" name="Google Shape;84;p15"/>
          <p:cNvSpPr/>
          <p:nvPr/>
        </p:nvSpPr>
        <p:spPr>
          <a:xfrm>
            <a:off x="4501080" y="1347480"/>
            <a:ext cx="69840" cy="6984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Google Shape;85;p15"/>
          <p:cNvSpPr/>
          <p:nvPr/>
        </p:nvSpPr>
        <p:spPr>
          <a:xfrm>
            <a:off x="-73080" y="3056040"/>
            <a:ext cx="467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91;p16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92;p16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93;p16" descr=""/>
          <p:cNvPicPr/>
          <p:nvPr/>
        </p:nvPicPr>
        <p:blipFill>
          <a:blip r:embed="rId3"/>
          <a:stretch/>
        </p:blipFill>
        <p:spPr>
          <a:xfrm>
            <a:off x="-65916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107" name="Google Shape;94;p16"/>
          <p:cNvSpPr/>
          <p:nvPr/>
        </p:nvSpPr>
        <p:spPr>
          <a:xfrm>
            <a:off x="362880" y="1456200"/>
            <a:ext cx="4312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Google Shape;95;p16"/>
          <p:cNvSpPr/>
          <p:nvPr/>
        </p:nvSpPr>
        <p:spPr>
          <a:xfrm>
            <a:off x="284400" y="2523600"/>
            <a:ext cx="4391640" cy="11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09" name="Google Shape;96;p16"/>
          <p:cNvSpPr/>
          <p:nvPr/>
        </p:nvSpPr>
        <p:spPr>
          <a:xfrm>
            <a:off x="849240" y="1117800"/>
            <a:ext cx="3110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Продолжительность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0" name="Google Shape;97;p16"/>
          <p:cNvSpPr/>
          <p:nvPr/>
        </p:nvSpPr>
        <p:spPr>
          <a:xfrm>
            <a:off x="876960" y="1463040"/>
            <a:ext cx="2902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050" spc="-1" strike="noStrike">
                <a:solidFill>
                  <a:srgbClr val="000000"/>
                </a:solidFill>
                <a:latin typeface="Roboto"/>
                <a:ea typeface="Roboto"/>
              </a:rPr>
              <a:t>каждого из этапов: </a:t>
            </a:r>
            <a:r>
              <a:rPr b="1" lang="ru-RU" sz="1050" spc="-1" strike="noStrike">
                <a:solidFill>
                  <a:srgbClr val="000000"/>
                </a:solidFill>
                <a:latin typeface="Roboto"/>
                <a:ea typeface="Roboto"/>
              </a:rPr>
              <a:t>по 2 часа на каждый этап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111" name="Google Shape;98;p16"/>
          <p:cNvSpPr/>
          <p:nvPr/>
        </p:nvSpPr>
        <p:spPr>
          <a:xfrm>
            <a:off x="804240" y="2192040"/>
            <a:ext cx="1186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Сроки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12" name="Google Shape;99;p16"/>
          <p:cNvSpPr/>
          <p:nvPr/>
        </p:nvSpPr>
        <p:spPr>
          <a:xfrm>
            <a:off x="849240" y="2558880"/>
            <a:ext cx="2390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1050" spc="-1" strike="noStrike">
                <a:solidFill>
                  <a:srgbClr val="000000"/>
                </a:solidFill>
                <a:latin typeface="Roboto"/>
                <a:ea typeface="Roboto"/>
              </a:rPr>
              <a:t>На весь проект: 10 </a:t>
            </a:r>
            <a:r>
              <a:rPr b="1" lang="ru-RU" sz="1050" spc="-1" strike="noStrike">
                <a:solidFill>
                  <a:srgbClr val="000000"/>
                </a:solidFill>
                <a:latin typeface="Roboto"/>
                <a:ea typeface="Roboto"/>
              </a:rPr>
              <a:t>часов</a:t>
            </a:r>
            <a:endParaRPr b="0" lang="ru-RU" sz="1050" spc="-1" strike="noStrike">
              <a:latin typeface="Arial"/>
            </a:endParaRPr>
          </a:p>
        </p:txBody>
      </p:sp>
      <p:sp>
        <p:nvSpPr>
          <p:cNvPr id="113" name="Google Shape;100;p16"/>
          <p:cNvSpPr/>
          <p:nvPr/>
        </p:nvSpPr>
        <p:spPr>
          <a:xfrm>
            <a:off x="4795200" y="1117800"/>
            <a:ext cx="4227480" cy="39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200" spc="-1" strike="noStrike">
                <a:solidFill>
                  <a:srgbClr val="000000"/>
                </a:solidFill>
                <a:latin typeface="Roboto Black"/>
                <a:ea typeface="Roboto Black"/>
              </a:rPr>
              <a:t>Технические ресурсы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Оборудование: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Персональный компьютер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 с процессором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AMD Ryzen 7 5700X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и видеокартой </a:t>
            </a: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NVIDIA GeForce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R</a:t>
            </a: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TX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5070</a:t>
            </a: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 (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12</a:t>
            </a: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GB VRAM)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br/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Программное обеспечение: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Язык: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 Python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3.11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Библиотеки: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PyTorch, torchvision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с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CUDA 12.8 —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для загрузки и использования модели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Keypoint R-CNN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OpenCV —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обработка видео и изображений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Matplotlib —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визуализация метрик и каркасов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NumPy —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основная математика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Git — </a:t>
            </a: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управление версиями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Инструменты разработки: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Среда разработки: VS Code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100" spc="-1" strike="noStrike">
                <a:solidFill>
                  <a:srgbClr val="000000"/>
                </a:solidFill>
                <a:latin typeface="Arial"/>
                <a:ea typeface="Arial"/>
              </a:rPr>
              <a:t>Интерфейс: PowerShell / Терминал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100" spc="-1" strike="noStrike">
              <a:latin typeface="Arial"/>
            </a:endParaRPr>
          </a:p>
        </p:txBody>
      </p:sp>
      <p:sp>
        <p:nvSpPr>
          <p:cNvPr id="114" name="Google Shape;101;p16"/>
          <p:cNvSpPr/>
          <p:nvPr/>
        </p:nvSpPr>
        <p:spPr>
          <a:xfrm>
            <a:off x="358920" y="699480"/>
            <a:ext cx="2977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Планирование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15" name="Google Shape;102;p16" descr=""/>
          <p:cNvPicPr/>
          <p:nvPr/>
        </p:nvPicPr>
        <p:blipFill>
          <a:blip r:embed="rId4"/>
          <a:stretch/>
        </p:blipFill>
        <p:spPr>
          <a:xfrm>
            <a:off x="4274280" y="1072080"/>
            <a:ext cx="461520" cy="459360"/>
          </a:xfrm>
          <a:prstGeom prst="rect">
            <a:avLst/>
          </a:prstGeom>
          <a:ln w="0">
            <a:noFill/>
          </a:ln>
        </p:spPr>
      </p:pic>
      <p:pic>
        <p:nvPicPr>
          <p:cNvPr id="116" name="Google Shape;103;p16" descr=""/>
          <p:cNvPicPr/>
          <p:nvPr/>
        </p:nvPicPr>
        <p:blipFill>
          <a:blip r:embed="rId5"/>
          <a:stretch/>
        </p:blipFill>
        <p:spPr>
          <a:xfrm>
            <a:off x="402480" y="2163600"/>
            <a:ext cx="445320" cy="445320"/>
          </a:xfrm>
          <a:prstGeom prst="rect">
            <a:avLst/>
          </a:prstGeom>
          <a:ln w="0">
            <a:noFill/>
          </a:ln>
        </p:spPr>
      </p:pic>
      <p:pic>
        <p:nvPicPr>
          <p:cNvPr id="117" name="Google Shape;104;p16" descr=""/>
          <p:cNvPicPr/>
          <p:nvPr/>
        </p:nvPicPr>
        <p:blipFill>
          <a:blip r:embed="rId6"/>
          <a:stretch/>
        </p:blipFill>
        <p:spPr>
          <a:xfrm>
            <a:off x="421560" y="1101600"/>
            <a:ext cx="454320" cy="45648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05;p16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0;p17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120" name="Google Shape;111;p17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12;p17"/>
          <p:cNvSpPr/>
          <p:nvPr/>
        </p:nvSpPr>
        <p:spPr>
          <a:xfrm>
            <a:off x="395640" y="1004040"/>
            <a:ext cx="4570920" cy="30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rgbClr val="000000"/>
                </a:solidFill>
                <a:latin typeface="Roboto Black"/>
                <a:ea typeface="Roboto Black"/>
              </a:rPr>
              <a:t>Источники данных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Эталонная видеозапись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: загруженная запись с канала «ТРЕНЕР»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Пользовательская видеозапись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: собственная видеозапись выполнения упражнения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Продолжительность видеозаписей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была уменьшена до 15 секунд.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Формат данных: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.mp4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2" name="Google Shape;113;p17"/>
          <p:cNvSpPr/>
          <p:nvPr/>
        </p:nvSpPr>
        <p:spPr>
          <a:xfrm>
            <a:off x="395640" y="3166920"/>
            <a:ext cx="179928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Google Shape;114;p17"/>
          <p:cNvSpPr/>
          <p:nvPr/>
        </p:nvSpPr>
        <p:spPr>
          <a:xfrm>
            <a:off x="413280" y="2643840"/>
            <a:ext cx="2231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Google Shape;115;p17"/>
          <p:cNvSpPr/>
          <p:nvPr/>
        </p:nvSpPr>
        <p:spPr>
          <a:xfrm>
            <a:off x="395640" y="1396440"/>
            <a:ext cx="2231280" cy="25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Google Shape;116;p17" descr=""/>
          <p:cNvPicPr/>
          <p:nvPr/>
        </p:nvPicPr>
        <p:blipFill>
          <a:blip r:embed="rId3"/>
          <a:stretch/>
        </p:blipFill>
        <p:spPr>
          <a:xfrm>
            <a:off x="-147672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126" name="Google Shape;117;p17"/>
          <p:cNvSpPr/>
          <p:nvPr/>
        </p:nvSpPr>
        <p:spPr>
          <a:xfrm>
            <a:off x="2483640" y="3363840"/>
            <a:ext cx="187128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Google Shape;118;p17"/>
          <p:cNvSpPr/>
          <p:nvPr/>
        </p:nvSpPr>
        <p:spPr>
          <a:xfrm>
            <a:off x="2501640" y="2643840"/>
            <a:ext cx="19252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Google Shape;119;p17"/>
          <p:cNvSpPr/>
          <p:nvPr/>
        </p:nvSpPr>
        <p:spPr>
          <a:xfrm>
            <a:off x="4644000" y="3363840"/>
            <a:ext cx="187128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Google Shape;120;p17"/>
          <p:cNvSpPr/>
          <p:nvPr/>
        </p:nvSpPr>
        <p:spPr>
          <a:xfrm>
            <a:off x="4662000" y="2643840"/>
            <a:ext cx="21412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oogle Shape;121;p17"/>
          <p:cNvSpPr/>
          <p:nvPr/>
        </p:nvSpPr>
        <p:spPr>
          <a:xfrm>
            <a:off x="6804360" y="3166920"/>
            <a:ext cx="191196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Google Shape;122;p17"/>
          <p:cNvSpPr/>
          <p:nvPr/>
        </p:nvSpPr>
        <p:spPr>
          <a:xfrm>
            <a:off x="6822000" y="2643840"/>
            <a:ext cx="2231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Google Shape;123;p17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000000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28;p18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129;p18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sp>
        <p:nvSpPr>
          <p:cNvPr id="135" name="Google Shape;130;p18"/>
          <p:cNvSpPr/>
          <p:nvPr/>
        </p:nvSpPr>
        <p:spPr>
          <a:xfrm>
            <a:off x="359640" y="464760"/>
            <a:ext cx="4570920" cy="44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rgbClr val="000000"/>
                </a:solidFill>
                <a:latin typeface="Roboto Black"/>
                <a:ea typeface="Roboto Black"/>
              </a:rPr>
              <a:t>Сбор и хранение данных</a:t>
            </a:r>
            <a:endParaRPr b="0" lang="ru-RU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При записи пользовательского видео использовался максимально схожий с эталоном ракурс камеры. Видео записывалось на смартфон, затем из двух видео были вырезаны фрагменты длительностью 15 секунд с синхронным начальным положением.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Обработка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На каждом кадре с помощью Keypoint R-CNN определяются ключевые точки человека. Для синхронизации кадров двух видео используется линейная интерполяци.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Хранение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В директории </a:t>
            </a:r>
            <a:r>
              <a:rPr b="0" i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 - исходные данные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ref.mp4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и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user.mp4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в директории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output -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результирующее видео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result.mp4 </a:t>
            </a:r>
            <a:r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и метрики качества </a:t>
            </a: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metrics.png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6" name="Google Shape;131;p18"/>
          <p:cNvSpPr/>
          <p:nvPr/>
        </p:nvSpPr>
        <p:spPr>
          <a:xfrm>
            <a:off x="395640" y="3166920"/>
            <a:ext cx="179928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Google Shape;132;p18"/>
          <p:cNvSpPr/>
          <p:nvPr/>
        </p:nvSpPr>
        <p:spPr>
          <a:xfrm>
            <a:off x="413280" y="2643840"/>
            <a:ext cx="2231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Google Shape;133;p18"/>
          <p:cNvSpPr/>
          <p:nvPr/>
        </p:nvSpPr>
        <p:spPr>
          <a:xfrm>
            <a:off x="395640" y="1396440"/>
            <a:ext cx="3547440" cy="28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9" name="Google Shape;134;p18" descr=""/>
          <p:cNvPicPr/>
          <p:nvPr/>
        </p:nvPicPr>
        <p:blipFill>
          <a:blip r:embed="rId3"/>
          <a:stretch/>
        </p:blipFill>
        <p:spPr>
          <a:xfrm>
            <a:off x="-147672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135;p18"/>
          <p:cNvSpPr/>
          <p:nvPr/>
        </p:nvSpPr>
        <p:spPr>
          <a:xfrm>
            <a:off x="2483640" y="3363840"/>
            <a:ext cx="187128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Google Shape;136;p18"/>
          <p:cNvSpPr/>
          <p:nvPr/>
        </p:nvSpPr>
        <p:spPr>
          <a:xfrm>
            <a:off x="2501640" y="2643840"/>
            <a:ext cx="19252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Google Shape;137;p18"/>
          <p:cNvSpPr/>
          <p:nvPr/>
        </p:nvSpPr>
        <p:spPr>
          <a:xfrm>
            <a:off x="4644000" y="3363840"/>
            <a:ext cx="187128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Google Shape;138;p18"/>
          <p:cNvSpPr/>
          <p:nvPr/>
        </p:nvSpPr>
        <p:spPr>
          <a:xfrm>
            <a:off x="4662000" y="2643840"/>
            <a:ext cx="214128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Google Shape;139;p18"/>
          <p:cNvSpPr/>
          <p:nvPr/>
        </p:nvSpPr>
        <p:spPr>
          <a:xfrm>
            <a:off x="6804360" y="3166920"/>
            <a:ext cx="191196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Google Shape;140;p18"/>
          <p:cNvSpPr/>
          <p:nvPr/>
        </p:nvSpPr>
        <p:spPr>
          <a:xfrm>
            <a:off x="6822000" y="2643840"/>
            <a:ext cx="2231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Google Shape;141;p18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000000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6;p19" descr=""/>
          <p:cNvPicPr/>
          <p:nvPr/>
        </p:nvPicPr>
        <p:blipFill>
          <a:blip r:embed="rId1"/>
          <a:stretch/>
        </p:blipFill>
        <p:spPr>
          <a:xfrm>
            <a:off x="-792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147;p19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148;p19" descr=""/>
          <p:cNvPicPr/>
          <p:nvPr/>
        </p:nvPicPr>
        <p:blipFill>
          <a:blip r:embed="rId3"/>
          <a:stretch/>
        </p:blipFill>
        <p:spPr>
          <a:xfrm>
            <a:off x="-80316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150" name="Google Shape;149;p19"/>
          <p:cNvSpPr/>
          <p:nvPr/>
        </p:nvSpPr>
        <p:spPr>
          <a:xfrm>
            <a:off x="286920" y="690120"/>
            <a:ext cx="5535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Алгоритмы </a:t>
            </a:r>
            <a:r>
              <a:rPr b="0" lang="ru-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и методы </a:t>
            </a: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ИИ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51" name="Google Shape;150;p19"/>
          <p:cNvSpPr/>
          <p:nvPr/>
        </p:nvSpPr>
        <p:spPr>
          <a:xfrm>
            <a:off x="539640" y="1551960"/>
            <a:ext cx="38872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Google Shape;151;p19"/>
          <p:cNvSpPr/>
          <p:nvPr/>
        </p:nvSpPr>
        <p:spPr>
          <a:xfrm>
            <a:off x="526320" y="1244160"/>
            <a:ext cx="351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Google Shape;152;p19"/>
          <p:cNvSpPr/>
          <p:nvPr/>
        </p:nvSpPr>
        <p:spPr>
          <a:xfrm>
            <a:off x="293760" y="1182600"/>
            <a:ext cx="3017880" cy="12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Keypoint R-CNN (из torchvision)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Используется для извлечения </a:t>
            </a: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ключевых точек (поз)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человека на каждом кадре видео.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Позволяет получить координаты 17 ключевых точек тела человека.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54" name="Google Shape;153;p19"/>
          <p:cNvSpPr/>
          <p:nvPr/>
        </p:nvSpPr>
        <p:spPr>
          <a:xfrm>
            <a:off x="4600440" y="1551960"/>
            <a:ext cx="440388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Google Shape;154;p19"/>
          <p:cNvSpPr/>
          <p:nvPr/>
        </p:nvSpPr>
        <p:spPr>
          <a:xfrm>
            <a:off x="4587480" y="1244160"/>
            <a:ext cx="3513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Google Shape;155;p19"/>
          <p:cNvSpPr/>
          <p:nvPr/>
        </p:nvSpPr>
        <p:spPr>
          <a:xfrm>
            <a:off x="293760" y="2562840"/>
            <a:ext cx="3513240" cy="12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Аффинное преобразование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Применяется для приведения ключевых точек пользователя к системе координат эталона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(учитывает масштаб, поворот, смещение).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57" name="Google Shape;156;p19"/>
          <p:cNvSpPr/>
          <p:nvPr/>
        </p:nvSpPr>
        <p:spPr>
          <a:xfrm>
            <a:off x="539640" y="3543840"/>
            <a:ext cx="352728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Google Shape;157;p19"/>
          <p:cNvSpPr/>
          <p:nvPr/>
        </p:nvSpPr>
        <p:spPr>
          <a:xfrm>
            <a:off x="526320" y="3065400"/>
            <a:ext cx="42760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Google Shape;158;p19"/>
          <p:cNvSpPr/>
          <p:nvPr/>
        </p:nvSpPr>
        <p:spPr>
          <a:xfrm>
            <a:off x="4428000" y="1244160"/>
            <a:ext cx="295308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Косинусное сходство поз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Вычисляет, насколько совпадает форма и ориентация тела (насколько совпадают направления векторов координат всех ключевых точек).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60" name="Google Shape;159;p19"/>
          <p:cNvSpPr/>
          <p:nvPr/>
        </p:nvSpPr>
        <p:spPr>
          <a:xfrm>
            <a:off x="4816440" y="3579840"/>
            <a:ext cx="407484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Google Shape;160;p19"/>
          <p:cNvSpPr/>
          <p:nvPr/>
        </p:nvSpPr>
        <p:spPr>
          <a:xfrm>
            <a:off x="4803480" y="3065400"/>
            <a:ext cx="40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Google Shape;161;p19"/>
          <p:cNvSpPr/>
          <p:nvPr/>
        </p:nvSpPr>
        <p:spPr>
          <a:xfrm>
            <a:off x="4464360" y="2561040"/>
            <a:ext cx="3398040" cy="155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Взвешенное расстояние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Определяет, насколько далеко поза пользователя ушла от эталонной (среднее абсолютное отклонение координат ключевых точек в пикселях после выравнивания).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-73080" y="3035880"/>
            <a:ext cx="467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Google Shape;165;p19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000000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  <p:sp>
        <p:nvSpPr>
          <p:cNvPr id="165" name="Прямоугольник 1"/>
          <p:cNvSpPr/>
          <p:nvPr/>
        </p:nvSpPr>
        <p:spPr>
          <a:xfrm>
            <a:off x="323640" y="3712680"/>
            <a:ext cx="2953080" cy="10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Графическая визуализация результатов</a:t>
            </a:r>
            <a:br/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Наложение текущих значений метрик и ключевых точек тренера на каждый кадр пользовательского видео.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70;p20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171;p20" descr=""/>
          <p:cNvPicPr/>
          <p:nvPr/>
        </p:nvPicPr>
        <p:blipFill>
          <a:blip r:embed="rId2"/>
          <a:stretch/>
        </p:blipFill>
        <p:spPr>
          <a:xfrm>
            <a:off x="7812360" y="187920"/>
            <a:ext cx="1078920" cy="245160"/>
          </a:xfrm>
          <a:prstGeom prst="rect">
            <a:avLst/>
          </a:prstGeom>
          <a:ln w="0">
            <a:noFill/>
          </a:ln>
        </p:spPr>
      </p:pic>
      <p:pic>
        <p:nvPicPr>
          <p:cNvPr id="168" name="Google Shape;172;p20" descr=""/>
          <p:cNvPicPr/>
          <p:nvPr/>
        </p:nvPicPr>
        <p:blipFill>
          <a:blip r:embed="rId3"/>
          <a:stretch/>
        </p:blipFill>
        <p:spPr>
          <a:xfrm>
            <a:off x="-1836720" y="474840"/>
            <a:ext cx="2925720" cy="756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173;p20"/>
          <p:cNvSpPr/>
          <p:nvPr/>
        </p:nvSpPr>
        <p:spPr>
          <a:xfrm>
            <a:off x="323640" y="555480"/>
            <a:ext cx="4247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1800" spc="-1" strike="noStrike">
                <a:solidFill>
                  <a:srgbClr val="000000"/>
                </a:solidFill>
                <a:latin typeface="Roboto Black"/>
                <a:ea typeface="Roboto Black"/>
              </a:rPr>
              <a:t>Технологический стек для проекта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70" name="Google Shape;174;p20"/>
          <p:cNvSpPr/>
          <p:nvPr/>
        </p:nvSpPr>
        <p:spPr>
          <a:xfrm>
            <a:off x="539640" y="1715040"/>
            <a:ext cx="266328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Google Shape;175;p20"/>
          <p:cNvSpPr/>
          <p:nvPr/>
        </p:nvSpPr>
        <p:spPr>
          <a:xfrm>
            <a:off x="526320" y="1244160"/>
            <a:ext cx="22446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Google Shape;176;p20"/>
          <p:cNvSpPr/>
          <p:nvPr/>
        </p:nvSpPr>
        <p:spPr>
          <a:xfrm>
            <a:off x="205200" y="1850400"/>
            <a:ext cx="2521440" cy="8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💻 </a:t>
            </a: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Язык программирования: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Python 3.11</a:t>
            </a:r>
            <a:r>
              <a:rPr b="0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 — основной язык разработки и анализа данных.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900" spc="-1" strike="noStrike">
              <a:latin typeface="Arial"/>
            </a:endParaRPr>
          </a:p>
        </p:txBody>
      </p:sp>
      <p:sp>
        <p:nvSpPr>
          <p:cNvPr id="173" name="Google Shape;177;p20"/>
          <p:cNvSpPr/>
          <p:nvPr/>
        </p:nvSpPr>
        <p:spPr>
          <a:xfrm>
            <a:off x="3376440" y="1715040"/>
            <a:ext cx="24199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Google Shape;178;p20"/>
          <p:cNvSpPr/>
          <p:nvPr/>
        </p:nvSpPr>
        <p:spPr>
          <a:xfrm>
            <a:off x="3363120" y="1244160"/>
            <a:ext cx="22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Google Shape;179;p20"/>
          <p:cNvSpPr/>
          <p:nvPr/>
        </p:nvSpPr>
        <p:spPr>
          <a:xfrm>
            <a:off x="4644000" y="1182600"/>
            <a:ext cx="2607840" cy="179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📚 </a:t>
            </a: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Библиотеки и фреймворки: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PyTorch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Torchvision </a:t>
            </a:r>
            <a:r>
              <a:rPr b="1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с поддержкой </a:t>
            </a: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CUDA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 — </a:t>
            </a:r>
            <a:r>
              <a:rPr b="0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загрузка и использование модели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Keypoint R-CNN;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OpenCV, PIL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 — </a:t>
            </a:r>
            <a:r>
              <a:rPr b="0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извлечение кадров, работа с видео;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Matplotlib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 — </a:t>
            </a:r>
            <a:r>
              <a:rPr b="0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визуализация результатов и графиков;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NumPy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  <a:ea typeface="Arial"/>
              </a:rPr>
              <a:t> — </a:t>
            </a:r>
            <a:r>
              <a:rPr b="0" lang="ru-RU" sz="900" spc="-1" strike="noStrike">
                <a:solidFill>
                  <a:srgbClr val="000000"/>
                </a:solidFill>
                <a:latin typeface="Arial"/>
                <a:ea typeface="Arial"/>
              </a:rPr>
              <a:t>векторные и матричные вычисления.</a:t>
            </a:r>
            <a:endParaRPr b="0" lang="ru-RU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900" spc="-1" strike="noStrike">
              <a:latin typeface="Arial"/>
            </a:endParaRPr>
          </a:p>
        </p:txBody>
      </p:sp>
      <p:sp>
        <p:nvSpPr>
          <p:cNvPr id="176" name="Google Shape;180;p20"/>
          <p:cNvSpPr/>
          <p:nvPr/>
        </p:nvSpPr>
        <p:spPr>
          <a:xfrm>
            <a:off x="4570920" y="302400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Google Shape;181;p20"/>
          <p:cNvSpPr/>
          <p:nvPr/>
        </p:nvSpPr>
        <p:spPr>
          <a:xfrm>
            <a:off x="2483640" y="1198080"/>
            <a:ext cx="8913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Google Shape;183;p20"/>
          <p:cNvSpPr/>
          <p:nvPr/>
        </p:nvSpPr>
        <p:spPr>
          <a:xfrm>
            <a:off x="8215920" y="1203480"/>
            <a:ext cx="16117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Google Shape;186;p20"/>
          <p:cNvSpPr/>
          <p:nvPr/>
        </p:nvSpPr>
        <p:spPr>
          <a:xfrm>
            <a:off x="5436000" y="1203480"/>
            <a:ext cx="502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Google Shape;188;p20"/>
          <p:cNvSpPr/>
          <p:nvPr/>
        </p:nvSpPr>
        <p:spPr>
          <a:xfrm>
            <a:off x="6112800" y="1722960"/>
            <a:ext cx="24188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Google Shape;189;p20"/>
          <p:cNvSpPr/>
          <p:nvPr/>
        </p:nvSpPr>
        <p:spPr>
          <a:xfrm>
            <a:off x="6099480" y="1252080"/>
            <a:ext cx="22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Google Shape;190;p20"/>
          <p:cNvSpPr/>
          <p:nvPr/>
        </p:nvSpPr>
        <p:spPr>
          <a:xfrm>
            <a:off x="5866920" y="1190520"/>
            <a:ext cx="316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Google Shape;191;p20"/>
          <p:cNvSpPr/>
          <p:nvPr/>
        </p:nvSpPr>
        <p:spPr>
          <a:xfrm>
            <a:off x="526320" y="2831400"/>
            <a:ext cx="266328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Google Shape;192;p20"/>
          <p:cNvSpPr/>
          <p:nvPr/>
        </p:nvSpPr>
        <p:spPr>
          <a:xfrm>
            <a:off x="526320" y="2526840"/>
            <a:ext cx="22446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Google Shape;193;p20"/>
          <p:cNvSpPr/>
          <p:nvPr/>
        </p:nvSpPr>
        <p:spPr>
          <a:xfrm>
            <a:off x="205200" y="1173600"/>
            <a:ext cx="19652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🧪 </a:t>
            </a: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Среда разработки:</a:t>
            </a:r>
            <a:endParaRPr b="0" lang="ru-RU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Visual Studio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  <a:ea typeface="Arial"/>
              </a:rPr>
              <a:t>Code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186" name="Google Shape;194;p20"/>
          <p:cNvSpPr/>
          <p:nvPr/>
        </p:nvSpPr>
        <p:spPr>
          <a:xfrm>
            <a:off x="3376440" y="2997720"/>
            <a:ext cx="241992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Google Shape;195;p20"/>
          <p:cNvSpPr/>
          <p:nvPr/>
        </p:nvSpPr>
        <p:spPr>
          <a:xfrm>
            <a:off x="3363120" y="2526840"/>
            <a:ext cx="22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Google Shape;196;p20"/>
          <p:cNvSpPr/>
          <p:nvPr/>
        </p:nvSpPr>
        <p:spPr>
          <a:xfrm>
            <a:off x="4658040" y="2976120"/>
            <a:ext cx="2304360" cy="10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⚙️ </a:t>
            </a: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Инструменты:</a:t>
            </a:r>
            <a:endParaRPr b="0" lang="ru-RU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Git</a:t>
            </a:r>
            <a:r>
              <a:rPr b="0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 — контроль версий;</a:t>
            </a:r>
            <a:endParaRPr b="0" lang="ru-RU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PowerShell / Терминал</a:t>
            </a:r>
            <a:r>
              <a:rPr b="0" lang="ru-RU" sz="1000" spc="-1" strike="noStrike">
                <a:solidFill>
                  <a:srgbClr val="000000"/>
                </a:solidFill>
                <a:latin typeface="Arial"/>
                <a:ea typeface="Arial"/>
              </a:rPr>
              <a:t> — выполнение скриптов.</a:t>
            </a:r>
            <a:endParaRPr b="0" lang="ru-RU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000" spc="-1" strike="noStrike">
              <a:latin typeface="Arial"/>
            </a:endParaRPr>
          </a:p>
        </p:txBody>
      </p:sp>
      <p:sp>
        <p:nvSpPr>
          <p:cNvPr id="189" name="Google Shape;202;p20"/>
          <p:cNvSpPr/>
          <p:nvPr/>
        </p:nvSpPr>
        <p:spPr>
          <a:xfrm>
            <a:off x="6112800" y="3005640"/>
            <a:ext cx="263484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90" name="Google Shape;203;p20"/>
          <p:cNvSpPr/>
          <p:nvPr/>
        </p:nvSpPr>
        <p:spPr>
          <a:xfrm>
            <a:off x="6099480" y="2534760"/>
            <a:ext cx="22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Google Shape;205;p20"/>
          <p:cNvSpPr/>
          <p:nvPr/>
        </p:nvSpPr>
        <p:spPr>
          <a:xfrm>
            <a:off x="4570920" y="426996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Google Shape;208;p20"/>
          <p:cNvSpPr/>
          <p:nvPr/>
        </p:nvSpPr>
        <p:spPr>
          <a:xfrm>
            <a:off x="507960" y="4281120"/>
            <a:ext cx="266328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Google Shape;209;p20"/>
          <p:cNvSpPr/>
          <p:nvPr/>
        </p:nvSpPr>
        <p:spPr>
          <a:xfrm>
            <a:off x="526320" y="3773160"/>
            <a:ext cx="22446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Google Shape;211;p20"/>
          <p:cNvSpPr/>
          <p:nvPr/>
        </p:nvSpPr>
        <p:spPr>
          <a:xfrm>
            <a:off x="3376440" y="4269960"/>
            <a:ext cx="26730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Google Shape;212;p20"/>
          <p:cNvSpPr/>
          <p:nvPr/>
        </p:nvSpPr>
        <p:spPr>
          <a:xfrm>
            <a:off x="3363120" y="3773160"/>
            <a:ext cx="228780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Google Shape;218;p20"/>
          <p:cNvSpPr/>
          <p:nvPr/>
        </p:nvSpPr>
        <p:spPr>
          <a:xfrm>
            <a:off x="6194880" y="4042440"/>
            <a:ext cx="26348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Google Shape;219;p20"/>
          <p:cNvSpPr/>
          <p:nvPr/>
        </p:nvSpPr>
        <p:spPr>
          <a:xfrm>
            <a:off x="6194880" y="3758040"/>
            <a:ext cx="298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Google Shape;221;p20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000000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226;p21" descr=""/>
          <p:cNvPicPr/>
          <p:nvPr/>
        </p:nvPicPr>
        <p:blipFill>
          <a:blip r:embed="rId1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ln w="0">
            <a:noFill/>
          </a:ln>
        </p:spPr>
      </p:pic>
      <p:pic>
        <p:nvPicPr>
          <p:cNvPr id="200" name="Google Shape;227;p21" descr=""/>
          <p:cNvPicPr/>
          <p:nvPr/>
        </p:nvPicPr>
        <p:blipFill>
          <a:blip r:embed="rId2"/>
          <a:stretch/>
        </p:blipFill>
        <p:spPr>
          <a:xfrm>
            <a:off x="-1260720" y="474840"/>
            <a:ext cx="2925720" cy="7560"/>
          </a:xfrm>
          <a:prstGeom prst="rect">
            <a:avLst/>
          </a:prstGeom>
          <a:ln w="0">
            <a:noFill/>
          </a:ln>
        </p:spPr>
      </p:pic>
      <p:pic>
        <p:nvPicPr>
          <p:cNvPr id="201" name="Google Shape;228;p21" descr=""/>
          <p:cNvPicPr/>
          <p:nvPr/>
        </p:nvPicPr>
        <p:blipFill>
          <a:blip r:embed="rId3"/>
          <a:stretch/>
        </p:blipFill>
        <p:spPr>
          <a:xfrm>
            <a:off x="7821000" y="195480"/>
            <a:ext cx="1061640" cy="246960"/>
          </a:xfrm>
          <a:prstGeom prst="rect">
            <a:avLst/>
          </a:prstGeom>
          <a:ln w="0">
            <a:noFill/>
          </a:ln>
        </p:spPr>
      </p:pic>
      <p:sp>
        <p:nvSpPr>
          <p:cNvPr id="202" name="Google Shape;229;p21"/>
          <p:cNvSpPr/>
          <p:nvPr/>
        </p:nvSpPr>
        <p:spPr>
          <a:xfrm>
            <a:off x="611640" y="1131480"/>
            <a:ext cx="457092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400" spc="-1" strike="noStrike">
                <a:solidFill>
                  <a:srgbClr val="ffffff"/>
                </a:solidFill>
                <a:latin typeface="Roboto Black"/>
                <a:ea typeface="Roboto Black"/>
              </a:rPr>
              <a:t>Метрики успешности</a:t>
            </a:r>
            <a:endParaRPr b="0" lang="ru-RU" sz="2400" spc="-1" strike="noStrike">
              <a:latin typeface="Arial"/>
            </a:endParaRPr>
          </a:p>
        </p:txBody>
      </p:sp>
      <p:sp>
        <p:nvSpPr>
          <p:cNvPr id="203" name="Google Shape;230;p21"/>
          <p:cNvSpPr/>
          <p:nvPr/>
        </p:nvSpPr>
        <p:spPr>
          <a:xfrm>
            <a:off x="611640" y="1995840"/>
            <a:ext cx="223128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Google Shape;231;p21"/>
          <p:cNvSpPr/>
          <p:nvPr/>
        </p:nvSpPr>
        <p:spPr>
          <a:xfrm>
            <a:off x="683640" y="262476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Google Shape;232;p21"/>
          <p:cNvSpPr/>
          <p:nvPr/>
        </p:nvSpPr>
        <p:spPr>
          <a:xfrm>
            <a:off x="3780000" y="262476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Google Shape;233;p21"/>
          <p:cNvSpPr/>
          <p:nvPr/>
        </p:nvSpPr>
        <p:spPr>
          <a:xfrm>
            <a:off x="6732360" y="262476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Google Shape;234;p21"/>
          <p:cNvSpPr/>
          <p:nvPr/>
        </p:nvSpPr>
        <p:spPr>
          <a:xfrm>
            <a:off x="3804480" y="389052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Google Shape;235;p21"/>
          <p:cNvSpPr/>
          <p:nvPr/>
        </p:nvSpPr>
        <p:spPr>
          <a:xfrm>
            <a:off x="6732360" y="386316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Google Shape;236;p21"/>
          <p:cNvSpPr/>
          <p:nvPr/>
        </p:nvSpPr>
        <p:spPr>
          <a:xfrm>
            <a:off x="755640" y="242784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Google Shape;237;p21"/>
          <p:cNvSpPr/>
          <p:nvPr/>
        </p:nvSpPr>
        <p:spPr>
          <a:xfrm>
            <a:off x="3852000" y="242784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Google Shape;238;p21"/>
          <p:cNvSpPr/>
          <p:nvPr/>
        </p:nvSpPr>
        <p:spPr>
          <a:xfrm>
            <a:off x="6804360" y="242784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Google Shape;239;p21"/>
          <p:cNvSpPr/>
          <p:nvPr/>
        </p:nvSpPr>
        <p:spPr>
          <a:xfrm>
            <a:off x="3852000" y="366588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Google Shape;240;p21"/>
          <p:cNvSpPr/>
          <p:nvPr/>
        </p:nvSpPr>
        <p:spPr>
          <a:xfrm>
            <a:off x="6807960" y="366588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Google Shape;241;p21"/>
          <p:cNvSpPr/>
          <p:nvPr/>
        </p:nvSpPr>
        <p:spPr>
          <a:xfrm>
            <a:off x="683640" y="3863160"/>
            <a:ext cx="172728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Google Shape;242;p21"/>
          <p:cNvSpPr/>
          <p:nvPr/>
        </p:nvSpPr>
        <p:spPr>
          <a:xfrm>
            <a:off x="755640" y="3666240"/>
            <a:ext cx="142920" cy="14292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Google Shape;243;p21"/>
          <p:cNvSpPr/>
          <p:nvPr/>
        </p:nvSpPr>
        <p:spPr>
          <a:xfrm>
            <a:off x="205200" y="196200"/>
            <a:ext cx="3513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800" spc="-1" strike="noStrike">
                <a:solidFill>
                  <a:srgbClr val="ffffff"/>
                </a:solidFill>
                <a:latin typeface="Roboto"/>
                <a:ea typeface="Roboto"/>
              </a:rPr>
              <a:t>Специализация «Data Science, Computer Vision»</a:t>
            </a:r>
            <a:endParaRPr b="0" lang="ru-RU" sz="800" spc="-1" strike="noStrike">
              <a:latin typeface="Arial"/>
            </a:endParaRPr>
          </a:p>
        </p:txBody>
      </p:sp>
      <p:graphicFrame>
        <p:nvGraphicFramePr>
          <p:cNvPr id="217" name="Таблица 3"/>
          <p:cNvGraphicFramePr/>
          <p:nvPr/>
        </p:nvGraphicFramePr>
        <p:xfrm>
          <a:off x="5364360" y="1044720"/>
          <a:ext cx="3655800" cy="2214000"/>
        </p:xfrm>
        <a:graphic>
          <a:graphicData uri="http://schemas.openxmlformats.org/drawingml/2006/table">
            <a:tbl>
              <a:tblPr/>
              <a:tblGrid>
                <a:gridCol w="1828080"/>
                <a:gridCol w="1828080"/>
              </a:tblGrid>
              <a:tr h="5108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Метрика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Значение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</a:tr>
              <a:tr h="851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Косинусное сходство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0.99</a:t>
                      </a: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82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</a:tr>
              <a:tr h="8517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Взвешенное расстояние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44</a:t>
                      </a:r>
                      <a:r>
                        <a:rPr b="1" lang="ru-RU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.</a:t>
                      </a: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64</a:t>
                      </a:r>
                      <a:endParaRPr b="0" lang="ru-RU" sz="1200" spc="-1" strike="noStrike">
                        <a:latin typeface="Arial"/>
                      </a:endParaRPr>
                    </a:p>
                  </a:txBody>
                  <a:tcPr anchor="ctr" marL="91440" marR="91440">
                    <a:noFill/>
                  </a:tcPr>
                </a:tc>
              </a:tr>
            </a:tbl>
          </a:graphicData>
        </a:graphic>
      </p:graphicFrame>
      <p:sp>
        <p:nvSpPr>
          <p:cNvPr id="218" name="Rectangle 2"/>
          <p:cNvSpPr/>
          <p:nvPr/>
        </p:nvSpPr>
        <p:spPr>
          <a:xfrm>
            <a:off x="402480" y="3866760"/>
            <a:ext cx="8388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  <a:ea typeface="Arial"/>
              </a:rPr>
              <a:t>Вывод:</a:t>
            </a:r>
            <a:endParaRPr b="0" lang="ru-RU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000" spc="-1" strike="noStrike">
                <a:solidFill>
                  <a:srgbClr val="ffffff"/>
                </a:solidFill>
                <a:latin typeface="Arial"/>
                <a:ea typeface="Arial"/>
              </a:rPr>
              <a:t>По графикам можно видеть, что первые 9 секунд пользователь достаточно точно воспроизвёл движения тренера. Косинусное сходство (направление движений) выше 0.998, а взвешенное расстояние не превышает 40 (абсолютное отклонение положения). Затем точность несколько снижается, и если направление движений в целом совпадает (косинусное сходство 0.990 в худшем случае), то положение точек значительно отклонилось (взвешенное расстояние 125 в худшем случае). Таким образом, на итоговую оценку «Средне» значительно повлияли последние 5 секунд выполнения упражнения.</a:t>
            </a:r>
            <a:endParaRPr b="0" lang="ru-RU" sz="1000" spc="-1" strike="noStrike">
              <a:latin typeface="Arial"/>
            </a:endParaRPr>
          </a:p>
        </p:txBody>
      </p:sp>
      <p:pic>
        <p:nvPicPr>
          <p:cNvPr id="219" name="Рисунок 1" descr=""/>
          <p:cNvPicPr/>
          <p:nvPr/>
        </p:nvPicPr>
        <p:blipFill>
          <a:blip r:embed="rId4"/>
          <a:stretch/>
        </p:blipFill>
        <p:spPr>
          <a:xfrm>
            <a:off x="402480" y="1040040"/>
            <a:ext cx="4890960" cy="22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Application>LibreOffice/7.3.1.3$Windows_X86_64 LibreOffice_project/a69ca51ded25f3eefd52d7bf9a5fad8c90b87951</Application>
  <AppVersion>15.0000</AppVersion>
  <Words>510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description/>
  <dc:language>ru-RU</dc:language>
  <cp:lastModifiedBy/>
  <dcterms:modified xsi:type="dcterms:W3CDTF">2026-03-14T17:48:03Z</dcterms:modified>
  <cp:revision>50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Экран (16:9)</vt:lpwstr>
  </property>
  <property fmtid="{D5CDD505-2E9C-101B-9397-08002B2CF9AE}" pid="4" name="Slides">
    <vt:i4>8</vt:i4>
  </property>
</Properties>
</file>